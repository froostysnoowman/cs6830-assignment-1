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everyone, I'm [Jacob / Kameron], and [Kameron / Jacob] and I looked at a question every baseball fan has an opinion on: when a team is losing, does the manager really pay for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season you hear that some manager is "on the hot seat." Everyone assumes it's all about winning, but we wanted to see if the data actually backs that up.</a:t>
            </a:r>
          </a:p>
          <a:p/>
          <a:p>
            <a:r>
              <a:t>This matters because a lot of people care about the answer: front offices deciding when to make a change, managers and their agents trying to figure out how safe the job is, and fans and sports media who argue about this every week.</a:t>
            </a:r>
          </a:p>
          <a:p/>
          <a:p>
            <a:r>
              <a:t>So we asked three questions. Do managers with better records keep their jobs? Are mid-season firings really on losing teams? And do managers who stay longer win more?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used the Sean Lahman Baseball Database, mainly the Managers and Teams tables. That gave us 2,915 manager seasons from 1901 to 2017.</a:t>
            </a:r>
          </a:p>
          <a:p/>
          <a:p>
            <a:r>
              <a:t>For every one, we tracked two things: did the manager finish the season, and were they back with the same team the next year? We matched teams by franchise, so when the Expos moved and became the Nationals, it still counts as the same job. And we started at 1901, because before that, teams folded so often that "not back" usually just meant the team was gone.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question: does winning keep you employed? Yes, and the pattern is really steady.</a:t>
            </a:r>
          </a:p>
          <a:p/>
          <a:p>
            <a:r>
              <a:t>Among managers whose team won less than 40% of its games, only 63% were back the next year. Every step up in winning percentage, that number climbs, all the way to 93% for managers above .600.</a:t>
            </a:r>
          </a:p>
          <a:p/>
          <a:p>
            <a:r>
              <a:t>On average, managers who kept their jobs won 51.2% of their games, compared to 46.1% for the ones who didn't come back. We used Welch's t-test, and a gap that big is very unlikely to be random chance.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this result surprised us: winning isn't always enough. Twenty managers won at least 60% of their games and still weren't back the next season, and six of them managed the Yankees.</a:t>
            </a:r>
          </a:p>
          <a:p/>
          <a:p>
            <a:r>
              <a:t>Chuck Dressen won 105 games with the Dodgers in 1953 and didn't come back. Yogi Berra won the pennant with the Yankees in 1964 and was let go right after the World Series.</a:t>
            </a:r>
          </a:p>
          <a:p/>
          <a:p>
            <a:r>
              <a:t>One thing to keep in mind: our data can't tell a firing apart from someone quitting, retiring, or getting promoted. But even a great record clearly doesn't guarantee the job.</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question: who gets replaced in the middle of the season? Almost always, losing teams.</a:t>
            </a:r>
          </a:p>
          <a:p/>
          <a:p>
            <a:r>
              <a:t>Managers who were replaced mid-season had won just 43.8% of their games, compared to 50.3% for managers who finished the year. On the chart, the orange curve is the replaced managers, and it's shifted clearly to the left of .500. About three out of four replaced managers had a losing record. And the typical one was gone about 80 games in, right around the halfway point of the season.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do managers who stay longer win more? They do. Managers who only lasted one season with a team averaged a .433 winning percentage. Managers who lasted seven or more seasons averaged .528.</a:t>
            </a:r>
          </a:p>
          <a:p/>
          <a:p>
            <a:r>
              <a:t>But this can be explained in both directions: good managers get to stay, and staying means you survived the bad years. So it's a correlation, not proof that sticking around makes you win.</a:t>
            </a:r>
          </a:p>
          <a:p/>
          <a:p>
            <a:r>
              <a:t>And one data point didn't make sense at first. Connie Mack managed the Philadelphia A's for 50 straight seasons with a losing record. That's explained by the fact that he was also a co-owner of the team. It's hard to fire yourself.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to wrap up: job security climbs steadily with winning, three out of four mid-season firings hit managers with losing records, and longer tenures go with better records.</a:t>
            </a:r>
          </a:p>
          <a:p/>
          <a:p>
            <a:r>
              <a:t>This matters because it gives front offices and managers a realistic picture of job security. A losing record is the biggest warning sign, but as the Yankees showed, even winning isn't a guarantee.</a:t>
            </a:r>
          </a:p>
          <a:p/>
          <a:p>
            <a:r>
              <a:t>Thanks! We're happy to take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74519"/>
            <a:ext cx="10058400" cy="365760"/>
          </a:xfrm>
          <a:prstGeom prst="rect">
            <a:avLst/>
          </a:prstGeom>
          <a:noFill/>
        </p:spPr>
        <p:txBody>
          <a:bodyPr wrap="square" anchor="t" lIns="0" rIns="0" tIns="0" bIns="0">
            <a:spAutoFit/>
          </a:bodyPr>
          <a:lstStyle/>
          <a:p>
            <a:pPr algn="l">
              <a:lnSpc>
                <a:spcPct val="105000"/>
              </a:lnSpc>
            </a:pPr>
            <a:r>
              <a:rPr sz="1600" b="1">
                <a:solidFill>
                  <a:srgbClr val="8FB8EE"/>
                </a:solidFill>
                <a:latin typeface="Arial"/>
              </a:rPr>
              <a:t>CS 6830 · PROJECT 1</a:t>
            </a:r>
          </a:p>
        </p:txBody>
      </p:sp>
      <p:sp>
        <p:nvSpPr>
          <p:cNvPr id="4" name="TextBox 3"/>
          <p:cNvSpPr txBox="1"/>
          <p:nvPr/>
        </p:nvSpPr>
        <p:spPr>
          <a:xfrm>
            <a:off x="914400" y="2286000"/>
            <a:ext cx="10058400" cy="1097280"/>
          </a:xfrm>
          <a:prstGeom prst="rect">
            <a:avLst/>
          </a:prstGeom>
          <a:noFill/>
        </p:spPr>
        <p:txBody>
          <a:bodyPr wrap="square" anchor="t" lIns="0" rIns="0" tIns="0" bIns="0">
            <a:spAutoFit/>
          </a:bodyPr>
          <a:lstStyle/>
          <a:p>
            <a:pPr algn="l">
              <a:lnSpc>
                <a:spcPct val="105000"/>
              </a:lnSpc>
            </a:pPr>
            <a:r>
              <a:rPr sz="6600" b="1">
                <a:solidFill>
                  <a:srgbClr val="FFFFFF"/>
                </a:solidFill>
                <a:latin typeface="Arial"/>
              </a:rPr>
              <a:t>On the Hot Seat</a:t>
            </a:r>
          </a:p>
        </p:txBody>
      </p:sp>
      <p:sp>
        <p:nvSpPr>
          <p:cNvPr id="5" name="TextBox 4"/>
          <p:cNvSpPr txBox="1"/>
          <p:nvPr/>
        </p:nvSpPr>
        <p:spPr>
          <a:xfrm>
            <a:off x="914400" y="3429000"/>
            <a:ext cx="10058400" cy="548640"/>
          </a:xfrm>
          <a:prstGeom prst="rect">
            <a:avLst/>
          </a:prstGeom>
          <a:noFill/>
        </p:spPr>
        <p:txBody>
          <a:bodyPr wrap="square" anchor="t" lIns="0" rIns="0" tIns="0" bIns="0">
            <a:spAutoFit/>
          </a:bodyPr>
          <a:lstStyle/>
          <a:p>
            <a:pPr algn="l">
              <a:lnSpc>
                <a:spcPct val="105000"/>
              </a:lnSpc>
            </a:pPr>
            <a:r>
              <a:rPr sz="3000" b="0">
                <a:solidFill>
                  <a:srgbClr val="D6E2F3"/>
                </a:solidFill>
                <a:latin typeface="Arial"/>
              </a:rPr>
              <a:t>Does winning keep an MLB manager employed?</a:t>
            </a:r>
          </a:p>
        </p:txBody>
      </p:sp>
      <p:sp>
        <p:nvSpPr>
          <p:cNvPr id="6" name="Rectangle 5"/>
          <p:cNvSpPr/>
          <p:nvPr/>
        </p:nvSpPr>
        <p:spPr>
          <a:xfrm>
            <a:off x="914400" y="4343400"/>
            <a:ext cx="1097280" cy="64008"/>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617720"/>
            <a:ext cx="10058400" cy="411480"/>
          </a:xfrm>
          <a:prstGeom prst="rect">
            <a:avLst/>
          </a:prstGeom>
          <a:noFill/>
        </p:spPr>
        <p:txBody>
          <a:bodyPr wrap="square" anchor="t" lIns="0" rIns="0" tIns="0" bIns="0">
            <a:spAutoFit/>
          </a:bodyPr>
          <a:lstStyle/>
          <a:p>
            <a:pPr algn="l">
              <a:lnSpc>
                <a:spcPct val="105000"/>
              </a:lnSpc>
            </a:pPr>
            <a:r>
              <a:rPr sz="2200" b="1">
                <a:solidFill>
                  <a:srgbClr val="FFFFFF"/>
                </a:solidFill>
                <a:latin typeface="Arial"/>
              </a:rPr>
              <a:t>Jacob Beal &amp; Kameron Moss</a:t>
            </a:r>
          </a:p>
        </p:txBody>
      </p:sp>
      <p:sp>
        <p:nvSpPr>
          <p:cNvPr id="8" name="TextBox 7"/>
          <p:cNvSpPr txBox="1"/>
          <p:nvPr/>
        </p:nvSpPr>
        <p:spPr>
          <a:xfrm>
            <a:off x="914400" y="5074920"/>
            <a:ext cx="10058400" cy="365760"/>
          </a:xfrm>
          <a:prstGeom prst="rect">
            <a:avLst/>
          </a:prstGeom>
          <a:noFill/>
        </p:spPr>
        <p:txBody>
          <a:bodyPr wrap="square" anchor="t" lIns="0" rIns="0" tIns="0" bIns="0">
            <a:spAutoFit/>
          </a:bodyPr>
          <a:lstStyle/>
          <a:p>
            <a:pPr algn="l">
              <a:lnSpc>
                <a:spcPct val="105000"/>
              </a:lnSpc>
            </a:pPr>
            <a:r>
              <a:rPr sz="1600" b="0">
                <a:solidFill>
                  <a:srgbClr val="9FB2CC"/>
                </a:solidFill>
                <a:latin typeface="Arial"/>
              </a:rPr>
              <a:t>Sean Lahman Baseball Database · 1901–2017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0058400" cy="274320"/>
          </a:xfrm>
          <a:prstGeom prst="rect">
            <a:avLst/>
          </a:prstGeom>
          <a:noFill/>
        </p:spPr>
        <p:txBody>
          <a:bodyPr wrap="square" anchor="t" lIns="0" rIns="0" tIns="0" bIns="0">
            <a:spAutoFit/>
          </a:bodyPr>
          <a:lstStyle/>
          <a:p>
            <a:pPr algn="l">
              <a:lnSpc>
                <a:spcPct val="105000"/>
              </a:lnSpc>
            </a:pPr>
            <a:r>
              <a:rPr sz="1300" b="1">
                <a:solidFill>
                  <a:srgbClr val="2A78D6"/>
                </a:solidFill>
                <a:latin typeface="Arial"/>
              </a:rPr>
              <a:t>THE QUESTION</a:t>
            </a:r>
          </a:p>
        </p:txBody>
      </p:sp>
      <p:sp>
        <p:nvSpPr>
          <p:cNvPr id="3" name="TextBox 2"/>
          <p:cNvSpPr txBox="1"/>
          <p:nvPr/>
        </p:nvSpPr>
        <p:spPr>
          <a:xfrm>
            <a:off x="548640" y="731520"/>
            <a:ext cx="11091672" cy="731520"/>
          </a:xfrm>
          <a:prstGeom prst="rect">
            <a:avLst/>
          </a:prstGeom>
          <a:noFill/>
        </p:spPr>
        <p:txBody>
          <a:bodyPr wrap="square" anchor="t" lIns="0" rIns="0" tIns="0" bIns="0">
            <a:spAutoFit/>
          </a:bodyPr>
          <a:lstStyle/>
          <a:p>
            <a:pPr algn="l">
              <a:lnSpc>
                <a:spcPct val="105000"/>
              </a:lnSpc>
            </a:pPr>
            <a:r>
              <a:rPr sz="3200" b="1">
                <a:solidFill>
                  <a:srgbClr val="1B1B1B"/>
                </a:solidFill>
                <a:latin typeface="Arial"/>
              </a:rPr>
              <a:t>Is keeping the job really all about winning?</a:t>
            </a:r>
          </a:p>
        </p:txBody>
      </p:sp>
      <p:sp>
        <p:nvSpPr>
          <p:cNvPr id="4" name="TextBox 3"/>
          <p:cNvSpPr txBox="1"/>
          <p:nvPr/>
        </p:nvSpPr>
        <p:spPr>
          <a:xfrm>
            <a:off x="548640" y="6400800"/>
            <a:ext cx="8229600" cy="228600"/>
          </a:xfrm>
          <a:prstGeom prst="rect">
            <a:avLst/>
          </a:prstGeom>
          <a:noFill/>
        </p:spPr>
        <p:txBody>
          <a:bodyPr wrap="square" anchor="t" lIns="0" rIns="0" tIns="0" bIns="0">
            <a:spAutoFit/>
          </a:bodyPr>
          <a:lstStyle/>
          <a:p>
            <a:pPr algn="l">
              <a:lnSpc>
                <a:spcPct val="105000"/>
              </a:lnSpc>
            </a:pPr>
            <a:r>
              <a:rPr sz="1000" b="0">
                <a:solidFill>
                  <a:srgbClr val="898781"/>
                </a:solidFill>
                <a:latin typeface="Arial"/>
              </a:rPr>
              <a:t>Data: Sean Lahman Baseball Database, 1901–2017</a:t>
            </a:r>
          </a:p>
        </p:txBody>
      </p:sp>
      <p:sp>
        <p:nvSpPr>
          <p:cNvPr id="5" name="TextBox 4"/>
          <p:cNvSpPr txBox="1"/>
          <p:nvPr/>
        </p:nvSpPr>
        <p:spPr>
          <a:xfrm>
            <a:off x="10725912" y="6400800"/>
            <a:ext cx="914400" cy="228600"/>
          </a:xfrm>
          <a:prstGeom prst="rect">
            <a:avLst/>
          </a:prstGeom>
          <a:noFill/>
        </p:spPr>
        <p:txBody>
          <a:bodyPr wrap="square" anchor="t" lIns="0" rIns="0" tIns="0" bIns="0">
            <a:spAutoFit/>
          </a:bodyPr>
          <a:lstStyle/>
          <a:p>
            <a:pPr algn="r">
              <a:lnSpc>
                <a:spcPct val="105000"/>
              </a:lnSpc>
            </a:pPr>
            <a:r>
              <a:rPr sz="1000" b="0">
                <a:solidFill>
                  <a:srgbClr val="898781"/>
                </a:solidFill>
                <a:latin typeface="Arial"/>
              </a:rPr>
              <a:t>2</a:t>
            </a:r>
          </a:p>
        </p:txBody>
      </p:sp>
      <p:sp>
        <p:nvSpPr>
          <p:cNvPr id="6" name="TextBox 5"/>
          <p:cNvSpPr txBox="1"/>
          <p:nvPr/>
        </p:nvSpPr>
        <p:spPr>
          <a:xfrm>
            <a:off x="548640" y="1783080"/>
            <a:ext cx="5943600" cy="274320"/>
          </a:xfrm>
          <a:prstGeom prst="rect">
            <a:avLst/>
          </a:prstGeom>
          <a:noFill/>
        </p:spPr>
        <p:txBody>
          <a:bodyPr wrap="square" anchor="t" lIns="0" rIns="0" tIns="0" bIns="0">
            <a:spAutoFit/>
          </a:bodyPr>
          <a:lstStyle/>
          <a:p>
            <a:pPr algn="l">
              <a:lnSpc>
                <a:spcPct val="105000"/>
              </a:lnSpc>
            </a:pPr>
            <a:r>
              <a:rPr sz="1300" b="1">
                <a:solidFill>
                  <a:srgbClr val="898781"/>
                </a:solidFill>
                <a:latin typeface="Arial"/>
              </a:rPr>
              <a:t>WE ASKED</a:t>
            </a:r>
          </a:p>
        </p:txBody>
      </p:sp>
      <p:sp>
        <p:nvSpPr>
          <p:cNvPr id="7" name="Oval 6"/>
          <p:cNvSpPr/>
          <p:nvPr/>
        </p:nvSpPr>
        <p:spPr>
          <a:xfrm>
            <a:off x="548640" y="2286000"/>
            <a:ext cx="548640" cy="5486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Arial"/>
              </a:rPr>
              <a:t>1</a:t>
            </a:r>
          </a:p>
        </p:txBody>
      </p:sp>
      <p:sp>
        <p:nvSpPr>
          <p:cNvPr id="8" name="TextBox 7"/>
          <p:cNvSpPr txBox="1"/>
          <p:nvPr/>
        </p:nvSpPr>
        <p:spPr>
          <a:xfrm>
            <a:off x="1325880" y="2103120"/>
            <a:ext cx="5212080" cy="914400"/>
          </a:xfrm>
          <a:prstGeom prst="rect">
            <a:avLst/>
          </a:prstGeom>
          <a:noFill/>
        </p:spPr>
        <p:txBody>
          <a:bodyPr wrap="square" anchor="ctr" lIns="0" rIns="0" tIns="0" bIns="0">
            <a:spAutoFit/>
          </a:bodyPr>
          <a:lstStyle/>
          <a:p>
            <a:pPr algn="l">
              <a:lnSpc>
                <a:spcPct val="105000"/>
              </a:lnSpc>
            </a:pPr>
            <a:r>
              <a:rPr sz="2400" b="0">
                <a:solidFill>
                  <a:srgbClr val="1B1B1B"/>
                </a:solidFill>
                <a:latin typeface="Arial"/>
              </a:rPr>
              <a:t>Do managers with better records keep their jobs?</a:t>
            </a:r>
          </a:p>
        </p:txBody>
      </p:sp>
      <p:sp>
        <p:nvSpPr>
          <p:cNvPr id="9" name="Oval 8"/>
          <p:cNvSpPr/>
          <p:nvPr/>
        </p:nvSpPr>
        <p:spPr>
          <a:xfrm>
            <a:off x="548640" y="3474720"/>
            <a:ext cx="548640" cy="5486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Arial"/>
              </a:rPr>
              <a:t>2</a:t>
            </a:r>
          </a:p>
        </p:txBody>
      </p:sp>
      <p:sp>
        <p:nvSpPr>
          <p:cNvPr id="10" name="TextBox 9"/>
          <p:cNvSpPr txBox="1"/>
          <p:nvPr/>
        </p:nvSpPr>
        <p:spPr>
          <a:xfrm>
            <a:off x="1325880" y="3291839"/>
            <a:ext cx="5212080" cy="914400"/>
          </a:xfrm>
          <a:prstGeom prst="rect">
            <a:avLst/>
          </a:prstGeom>
          <a:noFill/>
        </p:spPr>
        <p:txBody>
          <a:bodyPr wrap="square" anchor="ctr" lIns="0" rIns="0" tIns="0" bIns="0">
            <a:spAutoFit/>
          </a:bodyPr>
          <a:lstStyle/>
          <a:p>
            <a:pPr algn="l">
              <a:lnSpc>
                <a:spcPct val="105000"/>
              </a:lnSpc>
            </a:pPr>
            <a:r>
              <a:rPr sz="2400" b="0">
                <a:solidFill>
                  <a:srgbClr val="1B1B1B"/>
                </a:solidFill>
                <a:latin typeface="Arial"/>
              </a:rPr>
              <a:t>Are mid-season firings really on losing teams?</a:t>
            </a:r>
          </a:p>
        </p:txBody>
      </p:sp>
      <p:sp>
        <p:nvSpPr>
          <p:cNvPr id="11" name="Oval 10"/>
          <p:cNvSpPr/>
          <p:nvPr/>
        </p:nvSpPr>
        <p:spPr>
          <a:xfrm>
            <a:off x="548640" y="4663440"/>
            <a:ext cx="548640" cy="5486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Arial"/>
              </a:rPr>
              <a:t>3</a:t>
            </a:r>
          </a:p>
        </p:txBody>
      </p:sp>
      <p:sp>
        <p:nvSpPr>
          <p:cNvPr id="12" name="TextBox 11"/>
          <p:cNvSpPr txBox="1"/>
          <p:nvPr/>
        </p:nvSpPr>
        <p:spPr>
          <a:xfrm>
            <a:off x="1325880" y="4480559"/>
            <a:ext cx="5212080" cy="914400"/>
          </a:xfrm>
          <a:prstGeom prst="rect">
            <a:avLst/>
          </a:prstGeom>
          <a:noFill/>
        </p:spPr>
        <p:txBody>
          <a:bodyPr wrap="square" anchor="ctr" lIns="0" rIns="0" tIns="0" bIns="0">
            <a:spAutoFit/>
          </a:bodyPr>
          <a:lstStyle/>
          <a:p>
            <a:pPr algn="l">
              <a:lnSpc>
                <a:spcPct val="105000"/>
              </a:lnSpc>
            </a:pPr>
            <a:r>
              <a:rPr sz="2400" b="0">
                <a:solidFill>
                  <a:srgbClr val="1B1B1B"/>
                </a:solidFill>
                <a:latin typeface="Arial"/>
              </a:rPr>
              <a:t>Do managers who stay longer win more?</a:t>
            </a:r>
          </a:p>
        </p:txBody>
      </p:sp>
      <p:sp>
        <p:nvSpPr>
          <p:cNvPr id="13" name="Rounded Rectangle 12"/>
          <p:cNvSpPr/>
          <p:nvPr/>
        </p:nvSpPr>
        <p:spPr>
          <a:xfrm>
            <a:off x="6949440" y="1783080"/>
            <a:ext cx="4690872" cy="4251960"/>
          </a:xfrm>
          <a:prstGeom prst="roundRect">
            <a:avLst>
              <a:gd name="adj" fmla="val 6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60920" y="2148840"/>
            <a:ext cx="4023360" cy="274320"/>
          </a:xfrm>
          <a:prstGeom prst="rect">
            <a:avLst/>
          </a:prstGeom>
          <a:noFill/>
        </p:spPr>
        <p:txBody>
          <a:bodyPr wrap="square" anchor="t" lIns="0" rIns="0" tIns="0" bIns="0">
            <a:spAutoFit/>
          </a:bodyPr>
          <a:lstStyle/>
          <a:p>
            <a:pPr algn="l">
              <a:lnSpc>
                <a:spcPct val="105000"/>
              </a:lnSpc>
            </a:pPr>
            <a:r>
              <a:rPr sz="1300" b="1">
                <a:solidFill>
                  <a:srgbClr val="898781"/>
                </a:solidFill>
                <a:latin typeface="Arial"/>
              </a:rPr>
              <a:t>WHO THIS MATTERS TO</a:t>
            </a:r>
          </a:p>
        </p:txBody>
      </p:sp>
      <p:sp>
        <p:nvSpPr>
          <p:cNvPr id="15" name="TextBox 14"/>
          <p:cNvSpPr txBox="1"/>
          <p:nvPr/>
        </p:nvSpPr>
        <p:spPr>
          <a:xfrm>
            <a:off x="7360920" y="2651760"/>
            <a:ext cx="4023360" cy="365760"/>
          </a:xfrm>
          <a:prstGeom prst="rect">
            <a:avLst/>
          </a:prstGeom>
          <a:noFill/>
        </p:spPr>
        <p:txBody>
          <a:bodyPr wrap="square" anchor="t" lIns="0" rIns="0" tIns="0" bIns="0">
            <a:spAutoFit/>
          </a:bodyPr>
          <a:lstStyle/>
          <a:p>
            <a:pPr algn="l">
              <a:lnSpc>
                <a:spcPct val="105000"/>
              </a:lnSpc>
            </a:pPr>
            <a:r>
              <a:rPr sz="2100" b="1">
                <a:solidFill>
                  <a:srgbClr val="1B1B1B"/>
                </a:solidFill>
                <a:latin typeface="Arial"/>
              </a:rPr>
              <a:t>Front offices</a:t>
            </a:r>
          </a:p>
        </p:txBody>
      </p:sp>
      <p:sp>
        <p:nvSpPr>
          <p:cNvPr id="16" name="TextBox 15"/>
          <p:cNvSpPr txBox="1"/>
          <p:nvPr/>
        </p:nvSpPr>
        <p:spPr>
          <a:xfrm>
            <a:off x="7360920" y="3035808"/>
            <a:ext cx="4023360" cy="365760"/>
          </a:xfrm>
          <a:prstGeom prst="rect">
            <a:avLst/>
          </a:prstGeom>
          <a:noFill/>
        </p:spPr>
        <p:txBody>
          <a:bodyPr wrap="square" anchor="t" lIns="0" rIns="0" tIns="0" bIns="0">
            <a:spAutoFit/>
          </a:bodyPr>
          <a:lstStyle/>
          <a:p>
            <a:pPr algn="l">
              <a:lnSpc>
                <a:spcPct val="105000"/>
              </a:lnSpc>
            </a:pPr>
            <a:r>
              <a:rPr sz="1600" b="0">
                <a:solidFill>
                  <a:srgbClr val="52514E"/>
                </a:solidFill>
                <a:latin typeface="Arial"/>
              </a:rPr>
              <a:t>When is it time to make a change?</a:t>
            </a:r>
          </a:p>
        </p:txBody>
      </p:sp>
      <p:sp>
        <p:nvSpPr>
          <p:cNvPr id="17" name="TextBox 16"/>
          <p:cNvSpPr txBox="1"/>
          <p:nvPr/>
        </p:nvSpPr>
        <p:spPr>
          <a:xfrm>
            <a:off x="7360920" y="3749039"/>
            <a:ext cx="4023360" cy="365760"/>
          </a:xfrm>
          <a:prstGeom prst="rect">
            <a:avLst/>
          </a:prstGeom>
          <a:noFill/>
        </p:spPr>
        <p:txBody>
          <a:bodyPr wrap="square" anchor="t" lIns="0" rIns="0" tIns="0" bIns="0">
            <a:spAutoFit/>
          </a:bodyPr>
          <a:lstStyle/>
          <a:p>
            <a:pPr algn="l">
              <a:lnSpc>
                <a:spcPct val="105000"/>
              </a:lnSpc>
            </a:pPr>
            <a:r>
              <a:rPr sz="2100" b="1">
                <a:solidFill>
                  <a:srgbClr val="1B1B1B"/>
                </a:solidFill>
                <a:latin typeface="Arial"/>
              </a:rPr>
              <a:t>Managers &amp; their agents</a:t>
            </a:r>
          </a:p>
        </p:txBody>
      </p:sp>
      <p:sp>
        <p:nvSpPr>
          <p:cNvPr id="18" name="TextBox 17"/>
          <p:cNvSpPr txBox="1"/>
          <p:nvPr/>
        </p:nvSpPr>
        <p:spPr>
          <a:xfrm>
            <a:off x="7360920" y="4133087"/>
            <a:ext cx="4023360" cy="365760"/>
          </a:xfrm>
          <a:prstGeom prst="rect">
            <a:avLst/>
          </a:prstGeom>
          <a:noFill/>
        </p:spPr>
        <p:txBody>
          <a:bodyPr wrap="square" anchor="t" lIns="0" rIns="0" tIns="0" bIns="0">
            <a:spAutoFit/>
          </a:bodyPr>
          <a:lstStyle/>
          <a:p>
            <a:pPr algn="l">
              <a:lnSpc>
                <a:spcPct val="105000"/>
              </a:lnSpc>
            </a:pPr>
            <a:r>
              <a:rPr sz="1600" b="0">
                <a:solidFill>
                  <a:srgbClr val="52514E"/>
                </a:solidFill>
                <a:latin typeface="Arial"/>
              </a:rPr>
              <a:t>How safe is the job, really?</a:t>
            </a:r>
          </a:p>
        </p:txBody>
      </p:sp>
      <p:sp>
        <p:nvSpPr>
          <p:cNvPr id="19" name="TextBox 18"/>
          <p:cNvSpPr txBox="1"/>
          <p:nvPr/>
        </p:nvSpPr>
        <p:spPr>
          <a:xfrm>
            <a:off x="7360920" y="4846320"/>
            <a:ext cx="4023360" cy="365760"/>
          </a:xfrm>
          <a:prstGeom prst="rect">
            <a:avLst/>
          </a:prstGeom>
          <a:noFill/>
        </p:spPr>
        <p:txBody>
          <a:bodyPr wrap="square" anchor="t" lIns="0" rIns="0" tIns="0" bIns="0">
            <a:spAutoFit/>
          </a:bodyPr>
          <a:lstStyle/>
          <a:p>
            <a:pPr algn="l">
              <a:lnSpc>
                <a:spcPct val="105000"/>
              </a:lnSpc>
            </a:pPr>
            <a:r>
              <a:rPr sz="2100" b="1">
                <a:solidFill>
                  <a:srgbClr val="1B1B1B"/>
                </a:solidFill>
                <a:latin typeface="Arial"/>
              </a:rPr>
              <a:t>Fans &amp; sports media</a:t>
            </a:r>
          </a:p>
        </p:txBody>
      </p:sp>
      <p:sp>
        <p:nvSpPr>
          <p:cNvPr id="20" name="TextBox 19"/>
          <p:cNvSpPr txBox="1"/>
          <p:nvPr/>
        </p:nvSpPr>
        <p:spPr>
          <a:xfrm>
            <a:off x="7360920" y="5230368"/>
            <a:ext cx="4023360" cy="365760"/>
          </a:xfrm>
          <a:prstGeom prst="rect">
            <a:avLst/>
          </a:prstGeom>
          <a:noFill/>
        </p:spPr>
        <p:txBody>
          <a:bodyPr wrap="square" anchor="t" lIns="0" rIns="0" tIns="0" bIns="0">
            <a:spAutoFit/>
          </a:bodyPr>
          <a:lstStyle/>
          <a:p>
            <a:pPr algn="l">
              <a:lnSpc>
                <a:spcPct val="105000"/>
              </a:lnSpc>
            </a:pPr>
            <a:r>
              <a:rPr sz="1600" b="0">
                <a:solidFill>
                  <a:srgbClr val="52514E"/>
                </a:solidFill>
                <a:latin typeface="Arial"/>
              </a:rPr>
              <a:t>Is all the 'hot seat' talk backed by data?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0058400" cy="274320"/>
          </a:xfrm>
          <a:prstGeom prst="rect">
            <a:avLst/>
          </a:prstGeom>
          <a:noFill/>
        </p:spPr>
        <p:txBody>
          <a:bodyPr wrap="square" anchor="t" lIns="0" rIns="0" tIns="0" bIns="0">
            <a:spAutoFit/>
          </a:bodyPr>
          <a:lstStyle/>
          <a:p>
            <a:pPr algn="l">
              <a:lnSpc>
                <a:spcPct val="105000"/>
              </a:lnSpc>
            </a:pPr>
            <a:r>
              <a:rPr sz="1300" b="1">
                <a:solidFill>
                  <a:srgbClr val="2A78D6"/>
                </a:solidFill>
                <a:latin typeface="Arial"/>
              </a:rPr>
              <a:t>THE DATA</a:t>
            </a:r>
          </a:p>
        </p:txBody>
      </p:sp>
      <p:sp>
        <p:nvSpPr>
          <p:cNvPr id="3" name="TextBox 2"/>
          <p:cNvSpPr txBox="1"/>
          <p:nvPr/>
        </p:nvSpPr>
        <p:spPr>
          <a:xfrm>
            <a:off x="548640" y="731520"/>
            <a:ext cx="11091672" cy="731520"/>
          </a:xfrm>
          <a:prstGeom prst="rect">
            <a:avLst/>
          </a:prstGeom>
          <a:noFill/>
        </p:spPr>
        <p:txBody>
          <a:bodyPr wrap="square" anchor="t" lIns="0" rIns="0" tIns="0" bIns="0">
            <a:spAutoFit/>
          </a:bodyPr>
          <a:lstStyle/>
          <a:p>
            <a:pPr algn="l">
              <a:lnSpc>
                <a:spcPct val="105000"/>
              </a:lnSpc>
            </a:pPr>
            <a:r>
              <a:rPr sz="3200" b="1">
                <a:solidFill>
                  <a:srgbClr val="1B1B1B"/>
                </a:solidFill>
                <a:latin typeface="Arial"/>
              </a:rPr>
              <a:t>2,915 manager seasons, two questions each</a:t>
            </a:r>
          </a:p>
        </p:txBody>
      </p:sp>
      <p:sp>
        <p:nvSpPr>
          <p:cNvPr id="4" name="TextBox 3"/>
          <p:cNvSpPr txBox="1"/>
          <p:nvPr/>
        </p:nvSpPr>
        <p:spPr>
          <a:xfrm>
            <a:off x="548640" y="6400800"/>
            <a:ext cx="8229600" cy="228600"/>
          </a:xfrm>
          <a:prstGeom prst="rect">
            <a:avLst/>
          </a:prstGeom>
          <a:noFill/>
        </p:spPr>
        <p:txBody>
          <a:bodyPr wrap="square" anchor="t" lIns="0" rIns="0" tIns="0" bIns="0">
            <a:spAutoFit/>
          </a:bodyPr>
          <a:lstStyle/>
          <a:p>
            <a:pPr algn="l">
              <a:lnSpc>
                <a:spcPct val="105000"/>
              </a:lnSpc>
            </a:pPr>
            <a:r>
              <a:rPr sz="1000" b="0">
                <a:solidFill>
                  <a:srgbClr val="898781"/>
                </a:solidFill>
                <a:latin typeface="Arial"/>
              </a:rPr>
              <a:t>Data: Sean Lahman Baseball Database, 1901–2017</a:t>
            </a:r>
          </a:p>
        </p:txBody>
      </p:sp>
      <p:sp>
        <p:nvSpPr>
          <p:cNvPr id="5" name="TextBox 4"/>
          <p:cNvSpPr txBox="1"/>
          <p:nvPr/>
        </p:nvSpPr>
        <p:spPr>
          <a:xfrm>
            <a:off x="10725912" y="6400800"/>
            <a:ext cx="914400" cy="228600"/>
          </a:xfrm>
          <a:prstGeom prst="rect">
            <a:avLst/>
          </a:prstGeom>
          <a:noFill/>
        </p:spPr>
        <p:txBody>
          <a:bodyPr wrap="square" anchor="t" lIns="0" rIns="0" tIns="0" bIns="0">
            <a:spAutoFit/>
          </a:bodyPr>
          <a:lstStyle/>
          <a:p>
            <a:pPr algn="r">
              <a:lnSpc>
                <a:spcPct val="105000"/>
              </a:lnSpc>
            </a:pPr>
            <a:r>
              <a:rPr sz="1000" b="0">
                <a:solidFill>
                  <a:srgbClr val="898781"/>
                </a:solidFill>
                <a:latin typeface="Arial"/>
              </a:rPr>
              <a:t>3</a:t>
            </a:r>
          </a:p>
        </p:txBody>
      </p:sp>
      <p:sp>
        <p:nvSpPr>
          <p:cNvPr id="6" name="Rounded Rectangle 5"/>
          <p:cNvSpPr/>
          <p:nvPr/>
        </p:nvSpPr>
        <p:spPr>
          <a:xfrm>
            <a:off x="548640" y="1783080"/>
            <a:ext cx="3483864" cy="1691640"/>
          </a:xfrm>
          <a:prstGeom prst="roundRect">
            <a:avLst>
              <a:gd name="adj" fmla="val 6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057400"/>
            <a:ext cx="2843784" cy="731520"/>
          </a:xfrm>
          <a:prstGeom prst="rect">
            <a:avLst/>
          </a:prstGeom>
          <a:noFill/>
        </p:spPr>
        <p:txBody>
          <a:bodyPr wrap="square" anchor="t" lIns="0" rIns="0" tIns="0" bIns="0">
            <a:spAutoFit/>
          </a:bodyPr>
          <a:lstStyle/>
          <a:p>
            <a:pPr algn="l">
              <a:lnSpc>
                <a:spcPct val="105000"/>
              </a:lnSpc>
            </a:pPr>
            <a:r>
              <a:rPr sz="4000" b="1">
                <a:solidFill>
                  <a:srgbClr val="1B1B1B"/>
                </a:solidFill>
                <a:latin typeface="Arial"/>
              </a:rPr>
              <a:t>2,915</a:t>
            </a:r>
          </a:p>
        </p:txBody>
      </p:sp>
      <p:sp>
        <p:nvSpPr>
          <p:cNvPr id="8" name="TextBox 7"/>
          <p:cNvSpPr txBox="1"/>
          <p:nvPr/>
        </p:nvSpPr>
        <p:spPr>
          <a:xfrm>
            <a:off x="868680" y="2788920"/>
            <a:ext cx="2843784" cy="365760"/>
          </a:xfrm>
          <a:prstGeom prst="rect">
            <a:avLst/>
          </a:prstGeom>
          <a:noFill/>
        </p:spPr>
        <p:txBody>
          <a:bodyPr wrap="square" anchor="t" lIns="0" rIns="0" tIns="0" bIns="0">
            <a:spAutoFit/>
          </a:bodyPr>
          <a:lstStyle/>
          <a:p>
            <a:pPr algn="l">
              <a:lnSpc>
                <a:spcPct val="105000"/>
              </a:lnSpc>
            </a:pPr>
            <a:r>
              <a:rPr sz="1600" b="0">
                <a:solidFill>
                  <a:srgbClr val="52514E"/>
                </a:solidFill>
                <a:latin typeface="Arial"/>
              </a:rPr>
              <a:t>manager seasons</a:t>
            </a:r>
          </a:p>
        </p:txBody>
      </p:sp>
      <p:sp>
        <p:nvSpPr>
          <p:cNvPr id="9" name="Rounded Rectangle 8"/>
          <p:cNvSpPr/>
          <p:nvPr/>
        </p:nvSpPr>
        <p:spPr>
          <a:xfrm>
            <a:off x="4352544" y="1783080"/>
            <a:ext cx="3483864" cy="1691640"/>
          </a:xfrm>
          <a:prstGeom prst="roundRect">
            <a:avLst>
              <a:gd name="adj" fmla="val 6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72583" y="2057400"/>
            <a:ext cx="2843784" cy="731520"/>
          </a:xfrm>
          <a:prstGeom prst="rect">
            <a:avLst/>
          </a:prstGeom>
          <a:noFill/>
        </p:spPr>
        <p:txBody>
          <a:bodyPr wrap="square" anchor="t" lIns="0" rIns="0" tIns="0" bIns="0">
            <a:spAutoFit/>
          </a:bodyPr>
          <a:lstStyle/>
          <a:p>
            <a:pPr algn="l">
              <a:lnSpc>
                <a:spcPct val="105000"/>
              </a:lnSpc>
            </a:pPr>
            <a:r>
              <a:rPr sz="4000" b="1">
                <a:solidFill>
                  <a:srgbClr val="1B1B1B"/>
                </a:solidFill>
                <a:latin typeface="Arial"/>
              </a:rPr>
              <a:t>1901–2017</a:t>
            </a:r>
          </a:p>
        </p:txBody>
      </p:sp>
      <p:sp>
        <p:nvSpPr>
          <p:cNvPr id="11" name="TextBox 10"/>
          <p:cNvSpPr txBox="1"/>
          <p:nvPr/>
        </p:nvSpPr>
        <p:spPr>
          <a:xfrm>
            <a:off x="4672583" y="2788920"/>
            <a:ext cx="2843784" cy="365760"/>
          </a:xfrm>
          <a:prstGeom prst="rect">
            <a:avLst/>
          </a:prstGeom>
          <a:noFill/>
        </p:spPr>
        <p:txBody>
          <a:bodyPr wrap="square" anchor="t" lIns="0" rIns="0" tIns="0" bIns="0">
            <a:spAutoFit/>
          </a:bodyPr>
          <a:lstStyle/>
          <a:p>
            <a:pPr algn="l">
              <a:lnSpc>
                <a:spcPct val="105000"/>
              </a:lnSpc>
            </a:pPr>
            <a:r>
              <a:rPr sz="1600" b="0">
                <a:solidFill>
                  <a:srgbClr val="52514E"/>
                </a:solidFill>
                <a:latin typeface="Arial"/>
              </a:rPr>
              <a:t>117 seasons of baseball</a:t>
            </a:r>
          </a:p>
        </p:txBody>
      </p:sp>
      <p:sp>
        <p:nvSpPr>
          <p:cNvPr id="12" name="Rounded Rectangle 11"/>
          <p:cNvSpPr/>
          <p:nvPr/>
        </p:nvSpPr>
        <p:spPr>
          <a:xfrm>
            <a:off x="8156448" y="1783080"/>
            <a:ext cx="3483864" cy="1691640"/>
          </a:xfrm>
          <a:prstGeom prst="roundRect">
            <a:avLst>
              <a:gd name="adj" fmla="val 6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76488" y="2057400"/>
            <a:ext cx="2843784" cy="731520"/>
          </a:xfrm>
          <a:prstGeom prst="rect">
            <a:avLst/>
          </a:prstGeom>
          <a:noFill/>
        </p:spPr>
        <p:txBody>
          <a:bodyPr wrap="square" anchor="t" lIns="0" rIns="0" tIns="0" bIns="0">
            <a:spAutoFit/>
          </a:bodyPr>
          <a:lstStyle/>
          <a:p>
            <a:pPr algn="l">
              <a:lnSpc>
                <a:spcPct val="105000"/>
              </a:lnSpc>
            </a:pPr>
            <a:r>
              <a:rPr sz="4000" b="1">
                <a:solidFill>
                  <a:srgbClr val="1B1B1B"/>
                </a:solidFill>
                <a:latin typeface="Arial"/>
              </a:rPr>
              <a:t>433</a:t>
            </a:r>
          </a:p>
        </p:txBody>
      </p:sp>
      <p:sp>
        <p:nvSpPr>
          <p:cNvPr id="14" name="TextBox 13"/>
          <p:cNvSpPr txBox="1"/>
          <p:nvPr/>
        </p:nvSpPr>
        <p:spPr>
          <a:xfrm>
            <a:off x="8476488" y="2788920"/>
            <a:ext cx="2843784" cy="365760"/>
          </a:xfrm>
          <a:prstGeom prst="rect">
            <a:avLst/>
          </a:prstGeom>
          <a:noFill/>
        </p:spPr>
        <p:txBody>
          <a:bodyPr wrap="square" anchor="t" lIns="0" rIns="0" tIns="0" bIns="0">
            <a:spAutoFit/>
          </a:bodyPr>
          <a:lstStyle/>
          <a:p>
            <a:pPr algn="l">
              <a:lnSpc>
                <a:spcPct val="105000"/>
              </a:lnSpc>
            </a:pPr>
            <a:r>
              <a:rPr sz="1600" b="0">
                <a:solidFill>
                  <a:srgbClr val="52514E"/>
                </a:solidFill>
                <a:latin typeface="Arial"/>
              </a:rPr>
              <a:t>replaced mid-season</a:t>
            </a:r>
          </a:p>
        </p:txBody>
      </p:sp>
      <p:sp>
        <p:nvSpPr>
          <p:cNvPr id="15" name="TextBox 14"/>
          <p:cNvSpPr txBox="1"/>
          <p:nvPr/>
        </p:nvSpPr>
        <p:spPr>
          <a:xfrm>
            <a:off x="548640" y="3886200"/>
            <a:ext cx="10972800" cy="274320"/>
          </a:xfrm>
          <a:prstGeom prst="rect">
            <a:avLst/>
          </a:prstGeom>
          <a:noFill/>
        </p:spPr>
        <p:txBody>
          <a:bodyPr wrap="square" anchor="t" lIns="0" rIns="0" tIns="0" bIns="0">
            <a:spAutoFit/>
          </a:bodyPr>
          <a:lstStyle/>
          <a:p>
            <a:pPr algn="l">
              <a:lnSpc>
                <a:spcPct val="105000"/>
              </a:lnSpc>
            </a:pPr>
            <a:r>
              <a:rPr sz="1300" b="1">
                <a:solidFill>
                  <a:srgbClr val="898781"/>
                </a:solidFill>
                <a:latin typeface="Arial"/>
              </a:rPr>
              <a:t>FOR EVERY MANAGER, EVERY SEASON, WE TRACKED</a:t>
            </a:r>
          </a:p>
        </p:txBody>
      </p:sp>
      <p:sp>
        <p:nvSpPr>
          <p:cNvPr id="16" name="Rounded Rectangle 15"/>
          <p:cNvSpPr/>
          <p:nvPr/>
        </p:nvSpPr>
        <p:spPr>
          <a:xfrm>
            <a:off x="548640" y="4297680"/>
            <a:ext cx="5394960" cy="960120"/>
          </a:xfrm>
          <a:prstGeom prst="roundRect">
            <a:avLst>
              <a:gd name="adj" fmla="val 6000"/>
            </a:avLst>
          </a:prstGeom>
          <a:solidFill>
            <a:srgbClr val="E6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297680"/>
            <a:ext cx="4754880" cy="960120"/>
          </a:xfrm>
          <a:prstGeom prst="rect">
            <a:avLst/>
          </a:prstGeom>
          <a:noFill/>
        </p:spPr>
        <p:txBody>
          <a:bodyPr wrap="square" anchor="ctr" lIns="0" rIns="0" tIns="0" bIns="0">
            <a:spAutoFit/>
          </a:bodyPr>
          <a:lstStyle/>
          <a:p>
            <a:pPr algn="l">
              <a:lnSpc>
                <a:spcPct val="105000"/>
              </a:lnSpc>
            </a:pPr>
            <a:r>
              <a:rPr sz="2200" b="1">
                <a:solidFill>
                  <a:srgbClr val="1B1B1B"/>
                </a:solidFill>
                <a:latin typeface="Arial"/>
              </a:rPr>
              <a:t>Did they finish the season?</a:t>
            </a:r>
          </a:p>
        </p:txBody>
      </p:sp>
      <p:sp>
        <p:nvSpPr>
          <p:cNvPr id="18" name="Rounded Rectangle 17"/>
          <p:cNvSpPr/>
          <p:nvPr/>
        </p:nvSpPr>
        <p:spPr>
          <a:xfrm>
            <a:off x="6245352" y="4297680"/>
            <a:ext cx="5394960" cy="960120"/>
          </a:xfrm>
          <a:prstGeom prst="roundRect">
            <a:avLst>
              <a:gd name="adj" fmla="val 6000"/>
            </a:avLst>
          </a:prstGeom>
          <a:solidFill>
            <a:srgbClr val="E6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65392" y="4297680"/>
            <a:ext cx="4754880" cy="960120"/>
          </a:xfrm>
          <a:prstGeom prst="rect">
            <a:avLst/>
          </a:prstGeom>
          <a:noFill/>
        </p:spPr>
        <p:txBody>
          <a:bodyPr wrap="square" anchor="ctr" lIns="0" rIns="0" tIns="0" bIns="0">
            <a:spAutoFit/>
          </a:bodyPr>
          <a:lstStyle/>
          <a:p>
            <a:pPr algn="l">
              <a:lnSpc>
                <a:spcPct val="105000"/>
              </a:lnSpc>
            </a:pPr>
            <a:r>
              <a:rPr sz="2200" b="1">
                <a:solidFill>
                  <a:srgbClr val="1B1B1B"/>
                </a:solidFill>
                <a:latin typeface="Arial"/>
              </a:rPr>
              <a:t>Were they back with the same team next year?</a:t>
            </a:r>
          </a:p>
        </p:txBody>
      </p:sp>
      <p:sp>
        <p:nvSpPr>
          <p:cNvPr id="20" name="TextBox 19"/>
          <p:cNvSpPr txBox="1"/>
          <p:nvPr/>
        </p:nvSpPr>
        <p:spPr>
          <a:xfrm>
            <a:off x="548640" y="5532120"/>
            <a:ext cx="11091672" cy="548640"/>
          </a:xfrm>
          <a:prstGeom prst="rect">
            <a:avLst/>
          </a:prstGeom>
          <a:noFill/>
        </p:spPr>
        <p:txBody>
          <a:bodyPr wrap="square" anchor="t" lIns="0" rIns="0" tIns="0" bIns="0">
            <a:spAutoFit/>
          </a:bodyPr>
          <a:lstStyle/>
          <a:p>
            <a:pPr algn="l">
              <a:lnSpc>
                <a:spcPct val="105000"/>
              </a:lnSpc>
            </a:pPr>
            <a:r>
              <a:rPr sz="1400" b="0">
                <a:solidFill>
                  <a:srgbClr val="52514E"/>
                </a:solidFill>
                <a:latin typeface="Arial"/>
              </a:rPr>
              <a:t>Teams are matched by franchise, so a team that moved (Montreal Expos → Washington Nationals) is still the same job. We start in 1901 because before that, teams folded too often to tell a firing from a team disappearing.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0058400" cy="274320"/>
          </a:xfrm>
          <a:prstGeom prst="rect">
            <a:avLst/>
          </a:prstGeom>
          <a:noFill/>
        </p:spPr>
        <p:txBody>
          <a:bodyPr wrap="square" anchor="t" lIns="0" rIns="0" tIns="0" bIns="0">
            <a:spAutoFit/>
          </a:bodyPr>
          <a:lstStyle/>
          <a:p>
            <a:pPr algn="l">
              <a:lnSpc>
                <a:spcPct val="105000"/>
              </a:lnSpc>
            </a:pPr>
            <a:r>
              <a:rPr sz="1300" b="1">
                <a:solidFill>
                  <a:srgbClr val="2A78D6"/>
                </a:solidFill>
                <a:latin typeface="Arial"/>
              </a:rPr>
              <a:t>QUESTION 1 · DOES WINNING KEEP YOUR JOB?</a:t>
            </a:r>
          </a:p>
        </p:txBody>
      </p:sp>
      <p:sp>
        <p:nvSpPr>
          <p:cNvPr id="3" name="TextBox 2"/>
          <p:cNvSpPr txBox="1"/>
          <p:nvPr/>
        </p:nvSpPr>
        <p:spPr>
          <a:xfrm>
            <a:off x="548640" y="731520"/>
            <a:ext cx="11091672" cy="731520"/>
          </a:xfrm>
          <a:prstGeom prst="rect">
            <a:avLst/>
          </a:prstGeom>
          <a:noFill/>
        </p:spPr>
        <p:txBody>
          <a:bodyPr wrap="square" anchor="t" lIns="0" rIns="0" tIns="0" bIns="0">
            <a:spAutoFit/>
          </a:bodyPr>
          <a:lstStyle/>
          <a:p>
            <a:pPr algn="l">
              <a:lnSpc>
                <a:spcPct val="105000"/>
              </a:lnSpc>
            </a:pPr>
            <a:r>
              <a:rPr sz="3200" b="1">
                <a:solidFill>
                  <a:srgbClr val="1B1B1B"/>
                </a:solidFill>
                <a:latin typeface="Arial"/>
              </a:rPr>
              <a:t>The more you win, the safer your job</a:t>
            </a:r>
          </a:p>
        </p:txBody>
      </p:sp>
      <p:sp>
        <p:nvSpPr>
          <p:cNvPr id="4" name="TextBox 3"/>
          <p:cNvSpPr txBox="1"/>
          <p:nvPr/>
        </p:nvSpPr>
        <p:spPr>
          <a:xfrm>
            <a:off x="548640" y="6400800"/>
            <a:ext cx="8229600" cy="228600"/>
          </a:xfrm>
          <a:prstGeom prst="rect">
            <a:avLst/>
          </a:prstGeom>
          <a:noFill/>
        </p:spPr>
        <p:txBody>
          <a:bodyPr wrap="square" anchor="t" lIns="0" rIns="0" tIns="0" bIns="0">
            <a:spAutoFit/>
          </a:bodyPr>
          <a:lstStyle/>
          <a:p>
            <a:pPr algn="l">
              <a:lnSpc>
                <a:spcPct val="105000"/>
              </a:lnSpc>
            </a:pPr>
            <a:r>
              <a:rPr sz="1000" b="0">
                <a:solidFill>
                  <a:srgbClr val="898781"/>
                </a:solidFill>
                <a:latin typeface="Arial"/>
              </a:rPr>
              <a:t>Data: Sean Lahman Baseball Database, 1901–2017</a:t>
            </a:r>
          </a:p>
        </p:txBody>
      </p:sp>
      <p:sp>
        <p:nvSpPr>
          <p:cNvPr id="5" name="TextBox 4"/>
          <p:cNvSpPr txBox="1"/>
          <p:nvPr/>
        </p:nvSpPr>
        <p:spPr>
          <a:xfrm>
            <a:off x="10725912" y="6400800"/>
            <a:ext cx="914400" cy="228600"/>
          </a:xfrm>
          <a:prstGeom prst="rect">
            <a:avLst/>
          </a:prstGeom>
          <a:noFill/>
        </p:spPr>
        <p:txBody>
          <a:bodyPr wrap="square" anchor="t" lIns="0" rIns="0" tIns="0" bIns="0">
            <a:spAutoFit/>
          </a:bodyPr>
          <a:lstStyle/>
          <a:p>
            <a:pPr algn="r">
              <a:lnSpc>
                <a:spcPct val="105000"/>
              </a:lnSpc>
            </a:pPr>
            <a:r>
              <a:rPr sz="1000" b="0">
                <a:solidFill>
                  <a:srgbClr val="898781"/>
                </a:solidFill>
                <a:latin typeface="Arial"/>
              </a:rPr>
              <a:t>4</a:t>
            </a:r>
          </a:p>
        </p:txBody>
      </p:sp>
      <p:pic>
        <p:nvPicPr>
          <p:cNvPr id="6" name="Picture 5" descr="1_retention.png"/>
          <p:cNvPicPr>
            <a:picLocks noChangeAspect="1"/>
          </p:cNvPicPr>
          <p:nvPr/>
        </p:nvPicPr>
        <p:blipFill>
          <a:blip r:embed="rId2"/>
          <a:stretch>
            <a:fillRect/>
          </a:stretch>
        </p:blipFill>
        <p:spPr>
          <a:xfrm>
            <a:off x="457200" y="1691640"/>
            <a:ext cx="7406640" cy="4434840"/>
          </a:xfrm>
          <a:prstGeom prst="rect">
            <a:avLst/>
          </a:prstGeom>
        </p:spPr>
      </p:pic>
      <p:sp>
        <p:nvSpPr>
          <p:cNvPr id="7" name="TextBox 6"/>
          <p:cNvSpPr txBox="1"/>
          <p:nvPr/>
        </p:nvSpPr>
        <p:spPr>
          <a:xfrm>
            <a:off x="8229600" y="1874519"/>
            <a:ext cx="3410712" cy="685800"/>
          </a:xfrm>
          <a:prstGeom prst="rect">
            <a:avLst/>
          </a:prstGeom>
          <a:noFill/>
        </p:spPr>
        <p:txBody>
          <a:bodyPr wrap="square" anchor="t" lIns="0" rIns="0" tIns="0" bIns="0">
            <a:spAutoFit/>
          </a:bodyPr>
          <a:lstStyle/>
          <a:p>
            <a:pPr algn="l">
              <a:lnSpc>
                <a:spcPct val="105000"/>
              </a:lnSpc>
            </a:pPr>
            <a:r>
              <a:rPr sz="4400" b="1">
                <a:solidFill>
                  <a:srgbClr val="1B1B1B"/>
                </a:solidFill>
                <a:latin typeface="Arial"/>
              </a:rPr>
              <a:t>63%</a:t>
            </a:r>
          </a:p>
        </p:txBody>
      </p:sp>
      <p:sp>
        <p:nvSpPr>
          <p:cNvPr id="8" name="TextBox 7"/>
          <p:cNvSpPr txBox="1"/>
          <p:nvPr/>
        </p:nvSpPr>
        <p:spPr>
          <a:xfrm>
            <a:off x="8229600" y="2587752"/>
            <a:ext cx="3410712" cy="685800"/>
          </a:xfrm>
          <a:prstGeom prst="rect">
            <a:avLst/>
          </a:prstGeom>
          <a:noFill/>
        </p:spPr>
        <p:txBody>
          <a:bodyPr wrap="square" anchor="t" lIns="0" rIns="0" tIns="0" bIns="0">
            <a:spAutoFit/>
          </a:bodyPr>
          <a:lstStyle/>
          <a:p>
            <a:pPr algn="l">
              <a:lnSpc>
                <a:spcPct val="105000"/>
              </a:lnSpc>
            </a:pPr>
            <a:r>
              <a:rPr sz="1500" b="0">
                <a:solidFill>
                  <a:srgbClr val="52514E"/>
                </a:solidFill>
                <a:latin typeface="Arial"/>
              </a:rPr>
              <a:t>of managers under .400 were back the next year</a:t>
            </a:r>
          </a:p>
        </p:txBody>
      </p:sp>
      <p:sp>
        <p:nvSpPr>
          <p:cNvPr id="9" name="TextBox 8"/>
          <p:cNvSpPr txBox="1"/>
          <p:nvPr/>
        </p:nvSpPr>
        <p:spPr>
          <a:xfrm>
            <a:off x="8229600" y="3429000"/>
            <a:ext cx="3410712" cy="685800"/>
          </a:xfrm>
          <a:prstGeom prst="rect">
            <a:avLst/>
          </a:prstGeom>
          <a:noFill/>
        </p:spPr>
        <p:txBody>
          <a:bodyPr wrap="square" anchor="t" lIns="0" rIns="0" tIns="0" bIns="0">
            <a:spAutoFit/>
          </a:bodyPr>
          <a:lstStyle/>
          <a:p>
            <a:pPr algn="l">
              <a:lnSpc>
                <a:spcPct val="105000"/>
              </a:lnSpc>
            </a:pPr>
            <a:r>
              <a:rPr sz="4400" b="1">
                <a:solidFill>
                  <a:srgbClr val="1B1B1B"/>
                </a:solidFill>
                <a:latin typeface="Arial"/>
              </a:rPr>
              <a:t>93%</a:t>
            </a:r>
          </a:p>
        </p:txBody>
      </p:sp>
      <p:sp>
        <p:nvSpPr>
          <p:cNvPr id="10" name="TextBox 9"/>
          <p:cNvSpPr txBox="1"/>
          <p:nvPr/>
        </p:nvSpPr>
        <p:spPr>
          <a:xfrm>
            <a:off x="8229600" y="4142232"/>
            <a:ext cx="3410712" cy="685800"/>
          </a:xfrm>
          <a:prstGeom prst="rect">
            <a:avLst/>
          </a:prstGeom>
          <a:noFill/>
        </p:spPr>
        <p:txBody>
          <a:bodyPr wrap="square" anchor="t" lIns="0" rIns="0" tIns="0" bIns="0">
            <a:spAutoFit/>
          </a:bodyPr>
          <a:lstStyle/>
          <a:p>
            <a:pPr algn="l">
              <a:lnSpc>
                <a:spcPct val="105000"/>
              </a:lnSpc>
            </a:pPr>
            <a:r>
              <a:rPr sz="1500" b="0">
                <a:solidFill>
                  <a:srgbClr val="52514E"/>
                </a:solidFill>
                <a:latin typeface="Arial"/>
              </a:rPr>
              <a:t>of managers above .600 were back the next year</a:t>
            </a:r>
          </a:p>
        </p:txBody>
      </p:sp>
      <p:sp>
        <p:nvSpPr>
          <p:cNvPr id="11" name="Rectangle 10"/>
          <p:cNvSpPr/>
          <p:nvPr/>
        </p:nvSpPr>
        <p:spPr>
          <a:xfrm>
            <a:off x="8229600" y="4892040"/>
            <a:ext cx="3410712" cy="13716"/>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5074920"/>
            <a:ext cx="3410712" cy="640080"/>
          </a:xfrm>
          <a:prstGeom prst="rect">
            <a:avLst/>
          </a:prstGeom>
          <a:noFill/>
        </p:spPr>
        <p:txBody>
          <a:bodyPr wrap="square" anchor="t" lIns="0" rIns="0" tIns="0" bIns="0">
            <a:spAutoFit/>
          </a:bodyPr>
          <a:lstStyle/>
          <a:p>
            <a:pPr algn="l">
              <a:lnSpc>
                <a:spcPct val="105000"/>
              </a:lnSpc>
            </a:pPr>
            <a:r>
              <a:rPr sz="1500" b="0">
                <a:solidFill>
                  <a:srgbClr val="52514E"/>
                </a:solidFill>
                <a:latin typeface="Arial"/>
              </a:rPr>
              <a:t>Average win %: 51.2% for managers kept vs. 46.1% for those let go</a:t>
            </a:r>
          </a:p>
        </p:txBody>
      </p:sp>
      <p:sp>
        <p:nvSpPr>
          <p:cNvPr id="13" name="TextBox 12"/>
          <p:cNvSpPr txBox="1"/>
          <p:nvPr/>
        </p:nvSpPr>
        <p:spPr>
          <a:xfrm>
            <a:off x="8229600" y="5806440"/>
            <a:ext cx="3410712" cy="457200"/>
          </a:xfrm>
          <a:prstGeom prst="rect">
            <a:avLst/>
          </a:prstGeom>
          <a:noFill/>
        </p:spPr>
        <p:txBody>
          <a:bodyPr wrap="square" anchor="t" lIns="0" rIns="0" tIns="0" bIns="0">
            <a:spAutoFit/>
          </a:bodyPr>
          <a:lstStyle/>
          <a:p>
            <a:pPr algn="l">
              <a:lnSpc>
                <a:spcPct val="105000"/>
              </a:lnSpc>
            </a:pPr>
            <a:r>
              <a:rPr sz="1100" b="0">
                <a:solidFill>
                  <a:srgbClr val="898781"/>
                </a:solidFill>
                <a:latin typeface="Arial"/>
              </a:rPr>
              <a:t>Welch's t-test: t = 11.4, p &lt; 0.001</a:t>
            </a:r>
          </a:p>
          <a:p>
            <a:pPr algn="l">
              <a:lnSpc>
                <a:spcPct val="105000"/>
              </a:lnSpc>
            </a:pPr>
            <a:r>
              <a:rPr sz="1100" b="0">
                <a:solidFill>
                  <a:srgbClr val="898781"/>
                </a:solidFill>
                <a:latin typeface="Arial"/>
              </a:rPr>
              <a:t>n = 2,395 managers who finished the season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0058400" cy="274320"/>
          </a:xfrm>
          <a:prstGeom prst="rect">
            <a:avLst/>
          </a:prstGeom>
          <a:noFill/>
        </p:spPr>
        <p:txBody>
          <a:bodyPr wrap="square" anchor="t" lIns="0" rIns="0" tIns="0" bIns="0">
            <a:spAutoFit/>
          </a:bodyPr>
          <a:lstStyle/>
          <a:p>
            <a:pPr algn="l">
              <a:lnSpc>
                <a:spcPct val="105000"/>
              </a:lnSpc>
            </a:pPr>
            <a:r>
              <a:rPr sz="1300" b="1">
                <a:solidFill>
                  <a:srgbClr val="2A78D6"/>
                </a:solidFill>
                <a:latin typeface="Arial"/>
              </a:rPr>
              <a:t>THIS SURPRISED US</a:t>
            </a:r>
          </a:p>
        </p:txBody>
      </p:sp>
      <p:sp>
        <p:nvSpPr>
          <p:cNvPr id="3" name="TextBox 2"/>
          <p:cNvSpPr txBox="1"/>
          <p:nvPr/>
        </p:nvSpPr>
        <p:spPr>
          <a:xfrm>
            <a:off x="548640" y="731520"/>
            <a:ext cx="11091672" cy="731520"/>
          </a:xfrm>
          <a:prstGeom prst="rect">
            <a:avLst/>
          </a:prstGeom>
          <a:noFill/>
        </p:spPr>
        <p:txBody>
          <a:bodyPr wrap="square" anchor="t" lIns="0" rIns="0" tIns="0" bIns="0">
            <a:spAutoFit/>
          </a:bodyPr>
          <a:lstStyle/>
          <a:p>
            <a:pPr algn="l">
              <a:lnSpc>
                <a:spcPct val="105000"/>
              </a:lnSpc>
            </a:pPr>
            <a:r>
              <a:rPr sz="3200" b="1">
                <a:solidFill>
                  <a:srgbClr val="1B1B1B"/>
                </a:solidFill>
                <a:latin typeface="Arial"/>
              </a:rPr>
              <a:t>Winning isn't always enough</a:t>
            </a:r>
          </a:p>
        </p:txBody>
      </p:sp>
      <p:sp>
        <p:nvSpPr>
          <p:cNvPr id="4" name="TextBox 3"/>
          <p:cNvSpPr txBox="1"/>
          <p:nvPr/>
        </p:nvSpPr>
        <p:spPr>
          <a:xfrm>
            <a:off x="548640" y="6400800"/>
            <a:ext cx="8229600" cy="228600"/>
          </a:xfrm>
          <a:prstGeom prst="rect">
            <a:avLst/>
          </a:prstGeom>
          <a:noFill/>
        </p:spPr>
        <p:txBody>
          <a:bodyPr wrap="square" anchor="t" lIns="0" rIns="0" tIns="0" bIns="0">
            <a:spAutoFit/>
          </a:bodyPr>
          <a:lstStyle/>
          <a:p>
            <a:pPr algn="l">
              <a:lnSpc>
                <a:spcPct val="105000"/>
              </a:lnSpc>
            </a:pPr>
            <a:r>
              <a:rPr sz="1000" b="0">
                <a:solidFill>
                  <a:srgbClr val="898781"/>
                </a:solidFill>
                <a:latin typeface="Arial"/>
              </a:rPr>
              <a:t>Data: Sean Lahman Baseball Database, 1901–2017</a:t>
            </a:r>
          </a:p>
        </p:txBody>
      </p:sp>
      <p:sp>
        <p:nvSpPr>
          <p:cNvPr id="5" name="TextBox 4"/>
          <p:cNvSpPr txBox="1"/>
          <p:nvPr/>
        </p:nvSpPr>
        <p:spPr>
          <a:xfrm>
            <a:off x="10725912" y="6400800"/>
            <a:ext cx="914400" cy="228600"/>
          </a:xfrm>
          <a:prstGeom prst="rect">
            <a:avLst/>
          </a:prstGeom>
          <a:noFill/>
        </p:spPr>
        <p:txBody>
          <a:bodyPr wrap="square" anchor="t" lIns="0" rIns="0" tIns="0" bIns="0">
            <a:spAutoFit/>
          </a:bodyPr>
          <a:lstStyle/>
          <a:p>
            <a:pPr algn="r">
              <a:lnSpc>
                <a:spcPct val="105000"/>
              </a:lnSpc>
            </a:pPr>
            <a:r>
              <a:rPr sz="1000" b="0">
                <a:solidFill>
                  <a:srgbClr val="898781"/>
                </a:solidFill>
                <a:latin typeface="Arial"/>
              </a:rPr>
              <a:t>5</a:t>
            </a:r>
          </a:p>
        </p:txBody>
      </p:sp>
      <p:sp>
        <p:nvSpPr>
          <p:cNvPr id="6" name="TextBox 5"/>
          <p:cNvSpPr txBox="1"/>
          <p:nvPr/>
        </p:nvSpPr>
        <p:spPr>
          <a:xfrm>
            <a:off x="548640" y="1508760"/>
            <a:ext cx="4389120" cy="1783080"/>
          </a:xfrm>
          <a:prstGeom prst="rect">
            <a:avLst/>
          </a:prstGeom>
          <a:noFill/>
        </p:spPr>
        <p:txBody>
          <a:bodyPr wrap="square" anchor="t" lIns="0" rIns="0" tIns="0" bIns="0">
            <a:spAutoFit/>
          </a:bodyPr>
          <a:lstStyle/>
          <a:p>
            <a:pPr algn="l">
              <a:lnSpc>
                <a:spcPct val="105000"/>
              </a:lnSpc>
            </a:pPr>
            <a:r>
              <a:rPr sz="11000" b="1">
                <a:solidFill>
                  <a:srgbClr val="1B1B1B"/>
                </a:solidFill>
                <a:latin typeface="Arial"/>
              </a:rPr>
              <a:t>20</a:t>
            </a:r>
          </a:p>
        </p:txBody>
      </p:sp>
      <p:sp>
        <p:nvSpPr>
          <p:cNvPr id="7" name="TextBox 6"/>
          <p:cNvSpPr txBox="1"/>
          <p:nvPr/>
        </p:nvSpPr>
        <p:spPr>
          <a:xfrm>
            <a:off x="548640" y="3291840"/>
            <a:ext cx="4206240" cy="1188720"/>
          </a:xfrm>
          <a:prstGeom prst="rect">
            <a:avLst/>
          </a:prstGeom>
          <a:noFill/>
        </p:spPr>
        <p:txBody>
          <a:bodyPr wrap="square" anchor="t" lIns="0" rIns="0" tIns="0" bIns="0">
            <a:spAutoFit/>
          </a:bodyPr>
          <a:lstStyle/>
          <a:p>
            <a:pPr algn="l">
              <a:lnSpc>
                <a:spcPct val="105000"/>
              </a:lnSpc>
            </a:pPr>
            <a:r>
              <a:rPr sz="2400" b="0">
                <a:solidFill>
                  <a:srgbClr val="52514E"/>
                </a:solidFill>
                <a:latin typeface="Arial"/>
              </a:rPr>
              <a:t>managers won 60%+ of their games and still weren't back the next season</a:t>
            </a:r>
          </a:p>
        </p:txBody>
      </p:sp>
      <p:sp>
        <p:nvSpPr>
          <p:cNvPr id="8" name="TextBox 7"/>
          <p:cNvSpPr txBox="1"/>
          <p:nvPr/>
        </p:nvSpPr>
        <p:spPr>
          <a:xfrm>
            <a:off x="548640" y="4663440"/>
            <a:ext cx="4389120" cy="822960"/>
          </a:xfrm>
          <a:prstGeom prst="rect">
            <a:avLst/>
          </a:prstGeom>
          <a:noFill/>
        </p:spPr>
        <p:txBody>
          <a:bodyPr wrap="square" anchor="t" lIns="0" rIns="0" tIns="0" bIns="0">
            <a:spAutoFit/>
          </a:bodyPr>
          <a:lstStyle/>
          <a:p>
            <a:pPr algn="l">
              <a:lnSpc>
                <a:spcPct val="105000"/>
              </a:lnSpc>
            </a:pPr>
            <a:r>
              <a:rPr sz="2400" b="1">
                <a:solidFill>
                  <a:srgbClr val="1B1B1B"/>
                </a:solidFill>
                <a:latin typeface="Arial"/>
              </a:rPr>
              <a:t>6 of them managed the Yankees.</a:t>
            </a:r>
          </a:p>
        </p:txBody>
      </p:sp>
      <p:sp>
        <p:nvSpPr>
          <p:cNvPr id="9" name="TextBox 8"/>
          <p:cNvSpPr txBox="1"/>
          <p:nvPr/>
        </p:nvSpPr>
        <p:spPr>
          <a:xfrm>
            <a:off x="5394960" y="1874519"/>
            <a:ext cx="777240" cy="274320"/>
          </a:xfrm>
          <a:prstGeom prst="rect">
            <a:avLst/>
          </a:prstGeom>
          <a:noFill/>
        </p:spPr>
        <p:txBody>
          <a:bodyPr wrap="square" anchor="t" lIns="0" rIns="0" tIns="0" bIns="0">
            <a:spAutoFit/>
          </a:bodyPr>
          <a:lstStyle/>
          <a:p>
            <a:pPr algn="l">
              <a:lnSpc>
                <a:spcPct val="105000"/>
              </a:lnSpc>
            </a:pPr>
            <a:r>
              <a:rPr sz="1200" b="1">
                <a:solidFill>
                  <a:srgbClr val="898781"/>
                </a:solidFill>
                <a:latin typeface="Arial"/>
              </a:rPr>
              <a:t>YEAR</a:t>
            </a:r>
          </a:p>
        </p:txBody>
      </p:sp>
      <p:sp>
        <p:nvSpPr>
          <p:cNvPr id="10" name="TextBox 9"/>
          <p:cNvSpPr txBox="1"/>
          <p:nvPr/>
        </p:nvSpPr>
        <p:spPr>
          <a:xfrm>
            <a:off x="6172200" y="1874519"/>
            <a:ext cx="2148840" cy="274320"/>
          </a:xfrm>
          <a:prstGeom prst="rect">
            <a:avLst/>
          </a:prstGeom>
          <a:noFill/>
        </p:spPr>
        <p:txBody>
          <a:bodyPr wrap="square" anchor="t" lIns="0" rIns="0" tIns="0" bIns="0">
            <a:spAutoFit/>
          </a:bodyPr>
          <a:lstStyle/>
          <a:p>
            <a:pPr algn="l">
              <a:lnSpc>
                <a:spcPct val="105000"/>
              </a:lnSpc>
            </a:pPr>
            <a:r>
              <a:rPr sz="1200" b="1">
                <a:solidFill>
                  <a:srgbClr val="898781"/>
                </a:solidFill>
                <a:latin typeface="Arial"/>
              </a:rPr>
              <a:t>MANAGER</a:t>
            </a:r>
          </a:p>
        </p:txBody>
      </p:sp>
      <p:sp>
        <p:nvSpPr>
          <p:cNvPr id="11" name="TextBox 10"/>
          <p:cNvSpPr txBox="1"/>
          <p:nvPr/>
        </p:nvSpPr>
        <p:spPr>
          <a:xfrm>
            <a:off x="8321040" y="1874519"/>
            <a:ext cx="2331720" cy="274320"/>
          </a:xfrm>
          <a:prstGeom prst="rect">
            <a:avLst/>
          </a:prstGeom>
          <a:noFill/>
        </p:spPr>
        <p:txBody>
          <a:bodyPr wrap="square" anchor="t" lIns="0" rIns="0" tIns="0" bIns="0">
            <a:spAutoFit/>
          </a:bodyPr>
          <a:lstStyle/>
          <a:p>
            <a:pPr algn="l">
              <a:lnSpc>
                <a:spcPct val="105000"/>
              </a:lnSpc>
            </a:pPr>
            <a:r>
              <a:rPr sz="1200" b="1">
                <a:solidFill>
                  <a:srgbClr val="898781"/>
                </a:solidFill>
                <a:latin typeface="Arial"/>
              </a:rPr>
              <a:t>TEAM</a:t>
            </a:r>
          </a:p>
        </p:txBody>
      </p:sp>
      <p:sp>
        <p:nvSpPr>
          <p:cNvPr id="12" name="TextBox 11"/>
          <p:cNvSpPr txBox="1"/>
          <p:nvPr/>
        </p:nvSpPr>
        <p:spPr>
          <a:xfrm>
            <a:off x="10652760" y="1874519"/>
            <a:ext cx="987552" cy="274320"/>
          </a:xfrm>
          <a:prstGeom prst="rect">
            <a:avLst/>
          </a:prstGeom>
          <a:noFill/>
        </p:spPr>
        <p:txBody>
          <a:bodyPr wrap="square" anchor="t" lIns="0" rIns="0" tIns="0" bIns="0">
            <a:spAutoFit/>
          </a:bodyPr>
          <a:lstStyle/>
          <a:p>
            <a:pPr algn="l">
              <a:lnSpc>
                <a:spcPct val="105000"/>
              </a:lnSpc>
            </a:pPr>
            <a:r>
              <a:rPr sz="1200" b="1">
                <a:solidFill>
                  <a:srgbClr val="898781"/>
                </a:solidFill>
                <a:latin typeface="Arial"/>
              </a:rPr>
              <a:t>RECORD</a:t>
            </a:r>
          </a:p>
        </p:txBody>
      </p:sp>
      <p:sp>
        <p:nvSpPr>
          <p:cNvPr id="13" name="Rectangle 12"/>
          <p:cNvSpPr/>
          <p:nvPr/>
        </p:nvSpPr>
        <p:spPr>
          <a:xfrm>
            <a:off x="5394960" y="2286000"/>
            <a:ext cx="6245352" cy="13716"/>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94960" y="2286000"/>
            <a:ext cx="777240" cy="731520"/>
          </a:xfrm>
          <a:prstGeom prst="rect">
            <a:avLst/>
          </a:prstGeom>
          <a:noFill/>
        </p:spPr>
        <p:txBody>
          <a:bodyPr wrap="square" anchor="ctr" lIns="0" rIns="0" tIns="0" bIns="0">
            <a:spAutoFit/>
          </a:bodyPr>
          <a:lstStyle/>
          <a:p>
            <a:pPr algn="l">
              <a:lnSpc>
                <a:spcPct val="105000"/>
              </a:lnSpc>
            </a:pPr>
            <a:r>
              <a:rPr sz="1900" b="0">
                <a:solidFill>
                  <a:srgbClr val="1B1B1B"/>
                </a:solidFill>
                <a:latin typeface="Arial"/>
              </a:rPr>
              <a:t>1953</a:t>
            </a:r>
          </a:p>
        </p:txBody>
      </p:sp>
      <p:sp>
        <p:nvSpPr>
          <p:cNvPr id="15" name="TextBox 14"/>
          <p:cNvSpPr txBox="1"/>
          <p:nvPr/>
        </p:nvSpPr>
        <p:spPr>
          <a:xfrm>
            <a:off x="6172200" y="2286000"/>
            <a:ext cx="2148840" cy="731520"/>
          </a:xfrm>
          <a:prstGeom prst="rect">
            <a:avLst/>
          </a:prstGeom>
          <a:noFill/>
        </p:spPr>
        <p:txBody>
          <a:bodyPr wrap="square" anchor="ctr" lIns="0" rIns="0" tIns="0" bIns="0">
            <a:spAutoFit/>
          </a:bodyPr>
          <a:lstStyle/>
          <a:p>
            <a:pPr algn="l">
              <a:lnSpc>
                <a:spcPct val="105000"/>
              </a:lnSpc>
            </a:pPr>
            <a:r>
              <a:rPr sz="1900" b="1">
                <a:solidFill>
                  <a:srgbClr val="1B1B1B"/>
                </a:solidFill>
                <a:latin typeface="Arial"/>
              </a:rPr>
              <a:t>Chuck Dressen</a:t>
            </a:r>
          </a:p>
        </p:txBody>
      </p:sp>
      <p:sp>
        <p:nvSpPr>
          <p:cNvPr id="16" name="TextBox 15"/>
          <p:cNvSpPr txBox="1"/>
          <p:nvPr/>
        </p:nvSpPr>
        <p:spPr>
          <a:xfrm>
            <a:off x="8321040" y="2286000"/>
            <a:ext cx="2331720" cy="731520"/>
          </a:xfrm>
          <a:prstGeom prst="rect">
            <a:avLst/>
          </a:prstGeom>
          <a:noFill/>
        </p:spPr>
        <p:txBody>
          <a:bodyPr wrap="square" anchor="ctr" lIns="0" rIns="0" tIns="0" bIns="0">
            <a:spAutoFit/>
          </a:bodyPr>
          <a:lstStyle/>
          <a:p>
            <a:pPr algn="l">
              <a:lnSpc>
                <a:spcPct val="105000"/>
              </a:lnSpc>
            </a:pPr>
            <a:r>
              <a:rPr sz="1900" b="0">
                <a:solidFill>
                  <a:srgbClr val="1B1B1B"/>
                </a:solidFill>
                <a:latin typeface="Arial"/>
              </a:rPr>
              <a:t>Brooklyn Dodgers</a:t>
            </a:r>
          </a:p>
        </p:txBody>
      </p:sp>
      <p:sp>
        <p:nvSpPr>
          <p:cNvPr id="17" name="TextBox 16"/>
          <p:cNvSpPr txBox="1"/>
          <p:nvPr/>
        </p:nvSpPr>
        <p:spPr>
          <a:xfrm>
            <a:off x="10652760" y="2286000"/>
            <a:ext cx="987552" cy="731520"/>
          </a:xfrm>
          <a:prstGeom prst="rect">
            <a:avLst/>
          </a:prstGeom>
          <a:noFill/>
        </p:spPr>
        <p:txBody>
          <a:bodyPr wrap="square" anchor="ctr" lIns="0" rIns="0" tIns="0" bIns="0">
            <a:spAutoFit/>
          </a:bodyPr>
          <a:lstStyle/>
          <a:p>
            <a:pPr algn="l">
              <a:lnSpc>
                <a:spcPct val="105000"/>
              </a:lnSpc>
            </a:pPr>
            <a:r>
              <a:rPr sz="1900" b="0">
                <a:solidFill>
                  <a:srgbClr val="1B1B1B"/>
                </a:solidFill>
                <a:latin typeface="Arial"/>
              </a:rPr>
              <a:t>105–49</a:t>
            </a:r>
          </a:p>
        </p:txBody>
      </p:sp>
      <p:sp>
        <p:nvSpPr>
          <p:cNvPr id="18" name="Rectangle 17"/>
          <p:cNvSpPr/>
          <p:nvPr/>
        </p:nvSpPr>
        <p:spPr>
          <a:xfrm>
            <a:off x="5394960" y="3017520"/>
            <a:ext cx="6245352" cy="13716"/>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94960" y="3017520"/>
            <a:ext cx="777240" cy="731520"/>
          </a:xfrm>
          <a:prstGeom prst="rect">
            <a:avLst/>
          </a:prstGeom>
          <a:noFill/>
        </p:spPr>
        <p:txBody>
          <a:bodyPr wrap="square" anchor="ctr" lIns="0" rIns="0" tIns="0" bIns="0">
            <a:spAutoFit/>
          </a:bodyPr>
          <a:lstStyle/>
          <a:p>
            <a:pPr algn="l">
              <a:lnSpc>
                <a:spcPct val="105000"/>
              </a:lnSpc>
            </a:pPr>
            <a:r>
              <a:rPr sz="1900" b="0">
                <a:solidFill>
                  <a:srgbClr val="1B1B1B"/>
                </a:solidFill>
                <a:latin typeface="Arial"/>
              </a:rPr>
              <a:t>1964</a:t>
            </a:r>
          </a:p>
        </p:txBody>
      </p:sp>
      <p:sp>
        <p:nvSpPr>
          <p:cNvPr id="20" name="TextBox 19"/>
          <p:cNvSpPr txBox="1"/>
          <p:nvPr/>
        </p:nvSpPr>
        <p:spPr>
          <a:xfrm>
            <a:off x="6172200" y="3017520"/>
            <a:ext cx="2148840" cy="731520"/>
          </a:xfrm>
          <a:prstGeom prst="rect">
            <a:avLst/>
          </a:prstGeom>
          <a:noFill/>
        </p:spPr>
        <p:txBody>
          <a:bodyPr wrap="square" anchor="ctr" lIns="0" rIns="0" tIns="0" bIns="0">
            <a:spAutoFit/>
          </a:bodyPr>
          <a:lstStyle/>
          <a:p>
            <a:pPr algn="l">
              <a:lnSpc>
                <a:spcPct val="105000"/>
              </a:lnSpc>
            </a:pPr>
            <a:r>
              <a:rPr sz="1900" b="1">
                <a:solidFill>
                  <a:srgbClr val="1B1B1B"/>
                </a:solidFill>
                <a:latin typeface="Arial"/>
              </a:rPr>
              <a:t>Yogi Berra</a:t>
            </a:r>
          </a:p>
        </p:txBody>
      </p:sp>
      <p:sp>
        <p:nvSpPr>
          <p:cNvPr id="21" name="TextBox 20"/>
          <p:cNvSpPr txBox="1"/>
          <p:nvPr/>
        </p:nvSpPr>
        <p:spPr>
          <a:xfrm>
            <a:off x="8321040" y="3017520"/>
            <a:ext cx="2331720" cy="731520"/>
          </a:xfrm>
          <a:prstGeom prst="rect">
            <a:avLst/>
          </a:prstGeom>
          <a:noFill/>
        </p:spPr>
        <p:txBody>
          <a:bodyPr wrap="square" anchor="ctr" lIns="0" rIns="0" tIns="0" bIns="0">
            <a:spAutoFit/>
          </a:bodyPr>
          <a:lstStyle/>
          <a:p>
            <a:pPr algn="l">
              <a:lnSpc>
                <a:spcPct val="105000"/>
              </a:lnSpc>
            </a:pPr>
            <a:r>
              <a:rPr sz="1900" b="0">
                <a:solidFill>
                  <a:srgbClr val="1B1B1B"/>
                </a:solidFill>
                <a:latin typeface="Arial"/>
              </a:rPr>
              <a:t>New York Yankees</a:t>
            </a:r>
          </a:p>
        </p:txBody>
      </p:sp>
      <p:sp>
        <p:nvSpPr>
          <p:cNvPr id="22" name="TextBox 21"/>
          <p:cNvSpPr txBox="1"/>
          <p:nvPr/>
        </p:nvSpPr>
        <p:spPr>
          <a:xfrm>
            <a:off x="10652760" y="3017520"/>
            <a:ext cx="987552" cy="731520"/>
          </a:xfrm>
          <a:prstGeom prst="rect">
            <a:avLst/>
          </a:prstGeom>
          <a:noFill/>
        </p:spPr>
        <p:txBody>
          <a:bodyPr wrap="square" anchor="ctr" lIns="0" rIns="0" tIns="0" bIns="0">
            <a:spAutoFit/>
          </a:bodyPr>
          <a:lstStyle/>
          <a:p>
            <a:pPr algn="l">
              <a:lnSpc>
                <a:spcPct val="105000"/>
              </a:lnSpc>
            </a:pPr>
            <a:r>
              <a:rPr sz="1900" b="0">
                <a:solidFill>
                  <a:srgbClr val="1B1B1B"/>
                </a:solidFill>
                <a:latin typeface="Arial"/>
              </a:rPr>
              <a:t>99–63</a:t>
            </a:r>
          </a:p>
        </p:txBody>
      </p:sp>
      <p:sp>
        <p:nvSpPr>
          <p:cNvPr id="23" name="Rectangle 22"/>
          <p:cNvSpPr/>
          <p:nvPr/>
        </p:nvSpPr>
        <p:spPr>
          <a:xfrm>
            <a:off x="5394960" y="3749039"/>
            <a:ext cx="6245352" cy="13716"/>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94960" y="3749039"/>
            <a:ext cx="777240" cy="731520"/>
          </a:xfrm>
          <a:prstGeom prst="rect">
            <a:avLst/>
          </a:prstGeom>
          <a:noFill/>
        </p:spPr>
        <p:txBody>
          <a:bodyPr wrap="square" anchor="ctr" lIns="0" rIns="0" tIns="0" bIns="0">
            <a:spAutoFit/>
          </a:bodyPr>
          <a:lstStyle/>
          <a:p>
            <a:pPr algn="l">
              <a:lnSpc>
                <a:spcPct val="105000"/>
              </a:lnSpc>
            </a:pPr>
            <a:r>
              <a:rPr sz="1900" b="0">
                <a:solidFill>
                  <a:srgbClr val="1B1B1B"/>
                </a:solidFill>
                <a:latin typeface="Arial"/>
              </a:rPr>
              <a:t>1980</a:t>
            </a:r>
          </a:p>
        </p:txBody>
      </p:sp>
      <p:sp>
        <p:nvSpPr>
          <p:cNvPr id="25" name="TextBox 24"/>
          <p:cNvSpPr txBox="1"/>
          <p:nvPr/>
        </p:nvSpPr>
        <p:spPr>
          <a:xfrm>
            <a:off x="6172200" y="3749039"/>
            <a:ext cx="2148840" cy="731520"/>
          </a:xfrm>
          <a:prstGeom prst="rect">
            <a:avLst/>
          </a:prstGeom>
          <a:noFill/>
        </p:spPr>
        <p:txBody>
          <a:bodyPr wrap="square" anchor="ctr" lIns="0" rIns="0" tIns="0" bIns="0">
            <a:spAutoFit/>
          </a:bodyPr>
          <a:lstStyle/>
          <a:p>
            <a:pPr algn="l">
              <a:lnSpc>
                <a:spcPct val="105000"/>
              </a:lnSpc>
            </a:pPr>
            <a:r>
              <a:rPr sz="1900" b="1">
                <a:solidFill>
                  <a:srgbClr val="1B1B1B"/>
                </a:solidFill>
                <a:latin typeface="Arial"/>
              </a:rPr>
              <a:t>Dick Howser</a:t>
            </a:r>
          </a:p>
        </p:txBody>
      </p:sp>
      <p:sp>
        <p:nvSpPr>
          <p:cNvPr id="26" name="TextBox 25"/>
          <p:cNvSpPr txBox="1"/>
          <p:nvPr/>
        </p:nvSpPr>
        <p:spPr>
          <a:xfrm>
            <a:off x="8321040" y="3749039"/>
            <a:ext cx="2331720" cy="731520"/>
          </a:xfrm>
          <a:prstGeom prst="rect">
            <a:avLst/>
          </a:prstGeom>
          <a:noFill/>
        </p:spPr>
        <p:txBody>
          <a:bodyPr wrap="square" anchor="ctr" lIns="0" rIns="0" tIns="0" bIns="0">
            <a:spAutoFit/>
          </a:bodyPr>
          <a:lstStyle/>
          <a:p>
            <a:pPr algn="l">
              <a:lnSpc>
                <a:spcPct val="105000"/>
              </a:lnSpc>
            </a:pPr>
            <a:r>
              <a:rPr sz="1900" b="0">
                <a:solidFill>
                  <a:srgbClr val="1B1B1B"/>
                </a:solidFill>
                <a:latin typeface="Arial"/>
              </a:rPr>
              <a:t>New York Yankees</a:t>
            </a:r>
          </a:p>
        </p:txBody>
      </p:sp>
      <p:sp>
        <p:nvSpPr>
          <p:cNvPr id="27" name="TextBox 26"/>
          <p:cNvSpPr txBox="1"/>
          <p:nvPr/>
        </p:nvSpPr>
        <p:spPr>
          <a:xfrm>
            <a:off x="10652760" y="3749039"/>
            <a:ext cx="987552" cy="731520"/>
          </a:xfrm>
          <a:prstGeom prst="rect">
            <a:avLst/>
          </a:prstGeom>
          <a:noFill/>
        </p:spPr>
        <p:txBody>
          <a:bodyPr wrap="square" anchor="ctr" lIns="0" rIns="0" tIns="0" bIns="0">
            <a:spAutoFit/>
          </a:bodyPr>
          <a:lstStyle/>
          <a:p>
            <a:pPr algn="l">
              <a:lnSpc>
                <a:spcPct val="105000"/>
              </a:lnSpc>
            </a:pPr>
            <a:r>
              <a:rPr sz="1900" b="0">
                <a:solidFill>
                  <a:srgbClr val="1B1B1B"/>
                </a:solidFill>
                <a:latin typeface="Arial"/>
              </a:rPr>
              <a:t>103–59</a:t>
            </a:r>
          </a:p>
        </p:txBody>
      </p:sp>
      <p:sp>
        <p:nvSpPr>
          <p:cNvPr id="28" name="Rectangle 27"/>
          <p:cNvSpPr/>
          <p:nvPr/>
        </p:nvSpPr>
        <p:spPr>
          <a:xfrm>
            <a:off x="5394960" y="4480560"/>
            <a:ext cx="6245352" cy="13716"/>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94960" y="4480560"/>
            <a:ext cx="777240" cy="731520"/>
          </a:xfrm>
          <a:prstGeom prst="rect">
            <a:avLst/>
          </a:prstGeom>
          <a:noFill/>
        </p:spPr>
        <p:txBody>
          <a:bodyPr wrap="square" anchor="ctr" lIns="0" rIns="0" tIns="0" bIns="0">
            <a:spAutoFit/>
          </a:bodyPr>
          <a:lstStyle/>
          <a:p>
            <a:pPr algn="l">
              <a:lnSpc>
                <a:spcPct val="105000"/>
              </a:lnSpc>
            </a:pPr>
            <a:r>
              <a:rPr sz="1900" b="0">
                <a:solidFill>
                  <a:srgbClr val="1B1B1B"/>
                </a:solidFill>
                <a:latin typeface="Arial"/>
              </a:rPr>
              <a:t>2002</a:t>
            </a:r>
          </a:p>
        </p:txBody>
      </p:sp>
      <p:sp>
        <p:nvSpPr>
          <p:cNvPr id="30" name="TextBox 29"/>
          <p:cNvSpPr txBox="1"/>
          <p:nvPr/>
        </p:nvSpPr>
        <p:spPr>
          <a:xfrm>
            <a:off x="6172200" y="4480560"/>
            <a:ext cx="2148840" cy="731520"/>
          </a:xfrm>
          <a:prstGeom prst="rect">
            <a:avLst/>
          </a:prstGeom>
          <a:noFill/>
        </p:spPr>
        <p:txBody>
          <a:bodyPr wrap="square" anchor="ctr" lIns="0" rIns="0" tIns="0" bIns="0">
            <a:spAutoFit/>
          </a:bodyPr>
          <a:lstStyle/>
          <a:p>
            <a:pPr algn="l">
              <a:lnSpc>
                <a:spcPct val="105000"/>
              </a:lnSpc>
            </a:pPr>
            <a:r>
              <a:rPr sz="1900" b="1">
                <a:solidFill>
                  <a:srgbClr val="1B1B1B"/>
                </a:solidFill>
                <a:latin typeface="Arial"/>
              </a:rPr>
              <a:t>Art Howe</a:t>
            </a:r>
          </a:p>
        </p:txBody>
      </p:sp>
      <p:sp>
        <p:nvSpPr>
          <p:cNvPr id="31" name="TextBox 30"/>
          <p:cNvSpPr txBox="1"/>
          <p:nvPr/>
        </p:nvSpPr>
        <p:spPr>
          <a:xfrm>
            <a:off x="8321040" y="4480560"/>
            <a:ext cx="2331720" cy="731520"/>
          </a:xfrm>
          <a:prstGeom prst="rect">
            <a:avLst/>
          </a:prstGeom>
          <a:noFill/>
        </p:spPr>
        <p:txBody>
          <a:bodyPr wrap="square" anchor="ctr" lIns="0" rIns="0" tIns="0" bIns="0">
            <a:spAutoFit/>
          </a:bodyPr>
          <a:lstStyle/>
          <a:p>
            <a:pPr algn="l">
              <a:lnSpc>
                <a:spcPct val="105000"/>
              </a:lnSpc>
            </a:pPr>
            <a:r>
              <a:rPr sz="1900" b="0">
                <a:solidFill>
                  <a:srgbClr val="1B1B1B"/>
                </a:solidFill>
                <a:latin typeface="Arial"/>
              </a:rPr>
              <a:t>Oakland Athletics</a:t>
            </a:r>
          </a:p>
        </p:txBody>
      </p:sp>
      <p:sp>
        <p:nvSpPr>
          <p:cNvPr id="32" name="TextBox 31"/>
          <p:cNvSpPr txBox="1"/>
          <p:nvPr/>
        </p:nvSpPr>
        <p:spPr>
          <a:xfrm>
            <a:off x="10652760" y="4480560"/>
            <a:ext cx="987552" cy="731520"/>
          </a:xfrm>
          <a:prstGeom prst="rect">
            <a:avLst/>
          </a:prstGeom>
          <a:noFill/>
        </p:spPr>
        <p:txBody>
          <a:bodyPr wrap="square" anchor="ctr" lIns="0" rIns="0" tIns="0" bIns="0">
            <a:spAutoFit/>
          </a:bodyPr>
          <a:lstStyle/>
          <a:p>
            <a:pPr algn="l">
              <a:lnSpc>
                <a:spcPct val="105000"/>
              </a:lnSpc>
            </a:pPr>
            <a:r>
              <a:rPr sz="1900" b="0">
                <a:solidFill>
                  <a:srgbClr val="1B1B1B"/>
                </a:solidFill>
                <a:latin typeface="Arial"/>
              </a:rPr>
              <a:t>103–59</a:t>
            </a:r>
          </a:p>
        </p:txBody>
      </p:sp>
      <p:sp>
        <p:nvSpPr>
          <p:cNvPr id="33" name="Rectangle 32"/>
          <p:cNvSpPr/>
          <p:nvPr/>
        </p:nvSpPr>
        <p:spPr>
          <a:xfrm>
            <a:off x="5394960" y="5212080"/>
            <a:ext cx="6245352" cy="13716"/>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394960" y="5394960"/>
            <a:ext cx="6245352" cy="548640"/>
          </a:xfrm>
          <a:prstGeom prst="rect">
            <a:avLst/>
          </a:prstGeom>
          <a:noFill/>
        </p:spPr>
        <p:txBody>
          <a:bodyPr wrap="square" anchor="t" lIns="0" rIns="0" tIns="0" bIns="0">
            <a:spAutoFit/>
          </a:bodyPr>
          <a:lstStyle/>
          <a:p>
            <a:pPr algn="l">
              <a:lnSpc>
                <a:spcPct val="105000"/>
              </a:lnSpc>
            </a:pPr>
            <a:r>
              <a:rPr sz="1400" b="0">
                <a:solidFill>
                  <a:srgbClr val="52514E"/>
                </a:solidFill>
                <a:latin typeface="Arial"/>
              </a:rPr>
              <a:t>"Not back" could mean fired, quit, retired, or promoted.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0058400" cy="274320"/>
          </a:xfrm>
          <a:prstGeom prst="rect">
            <a:avLst/>
          </a:prstGeom>
          <a:noFill/>
        </p:spPr>
        <p:txBody>
          <a:bodyPr wrap="square" anchor="t" lIns="0" rIns="0" tIns="0" bIns="0">
            <a:spAutoFit/>
          </a:bodyPr>
          <a:lstStyle/>
          <a:p>
            <a:pPr algn="l">
              <a:lnSpc>
                <a:spcPct val="105000"/>
              </a:lnSpc>
            </a:pPr>
            <a:r>
              <a:rPr sz="1300" b="1">
                <a:solidFill>
                  <a:srgbClr val="2A78D6"/>
                </a:solidFill>
                <a:latin typeface="Arial"/>
              </a:rPr>
              <a:t>QUESTION 2 · MID-SEASON FIRINGS</a:t>
            </a:r>
          </a:p>
        </p:txBody>
      </p:sp>
      <p:sp>
        <p:nvSpPr>
          <p:cNvPr id="3" name="TextBox 2"/>
          <p:cNvSpPr txBox="1"/>
          <p:nvPr/>
        </p:nvSpPr>
        <p:spPr>
          <a:xfrm>
            <a:off x="548640" y="731520"/>
            <a:ext cx="11091672" cy="731520"/>
          </a:xfrm>
          <a:prstGeom prst="rect">
            <a:avLst/>
          </a:prstGeom>
          <a:noFill/>
        </p:spPr>
        <p:txBody>
          <a:bodyPr wrap="square" anchor="t" lIns="0" rIns="0" tIns="0" bIns="0">
            <a:spAutoFit/>
          </a:bodyPr>
          <a:lstStyle/>
          <a:p>
            <a:pPr algn="l">
              <a:lnSpc>
                <a:spcPct val="105000"/>
              </a:lnSpc>
            </a:pPr>
            <a:r>
              <a:rPr sz="3200" b="1">
                <a:solidFill>
                  <a:srgbClr val="1B1B1B"/>
                </a:solidFill>
                <a:latin typeface="Arial"/>
              </a:rPr>
              <a:t>Mid-season firings hit losing teams</a:t>
            </a:r>
          </a:p>
        </p:txBody>
      </p:sp>
      <p:sp>
        <p:nvSpPr>
          <p:cNvPr id="4" name="TextBox 3"/>
          <p:cNvSpPr txBox="1"/>
          <p:nvPr/>
        </p:nvSpPr>
        <p:spPr>
          <a:xfrm>
            <a:off x="548640" y="6400800"/>
            <a:ext cx="8229600" cy="228600"/>
          </a:xfrm>
          <a:prstGeom prst="rect">
            <a:avLst/>
          </a:prstGeom>
          <a:noFill/>
        </p:spPr>
        <p:txBody>
          <a:bodyPr wrap="square" anchor="t" lIns="0" rIns="0" tIns="0" bIns="0">
            <a:spAutoFit/>
          </a:bodyPr>
          <a:lstStyle/>
          <a:p>
            <a:pPr algn="l">
              <a:lnSpc>
                <a:spcPct val="105000"/>
              </a:lnSpc>
            </a:pPr>
            <a:r>
              <a:rPr sz="1000" b="0">
                <a:solidFill>
                  <a:srgbClr val="898781"/>
                </a:solidFill>
                <a:latin typeface="Arial"/>
              </a:rPr>
              <a:t>Data: Sean Lahman Baseball Database, 1901–2017</a:t>
            </a:r>
          </a:p>
        </p:txBody>
      </p:sp>
      <p:sp>
        <p:nvSpPr>
          <p:cNvPr id="5" name="TextBox 4"/>
          <p:cNvSpPr txBox="1"/>
          <p:nvPr/>
        </p:nvSpPr>
        <p:spPr>
          <a:xfrm>
            <a:off x="10725912" y="6400800"/>
            <a:ext cx="914400" cy="228600"/>
          </a:xfrm>
          <a:prstGeom prst="rect">
            <a:avLst/>
          </a:prstGeom>
          <a:noFill/>
        </p:spPr>
        <p:txBody>
          <a:bodyPr wrap="square" anchor="t" lIns="0" rIns="0" tIns="0" bIns="0">
            <a:spAutoFit/>
          </a:bodyPr>
          <a:lstStyle/>
          <a:p>
            <a:pPr algn="r">
              <a:lnSpc>
                <a:spcPct val="105000"/>
              </a:lnSpc>
            </a:pPr>
            <a:r>
              <a:rPr sz="1000" b="0">
                <a:solidFill>
                  <a:srgbClr val="898781"/>
                </a:solidFill>
                <a:latin typeface="Arial"/>
              </a:rPr>
              <a:t>6</a:t>
            </a:r>
          </a:p>
        </p:txBody>
      </p:sp>
      <p:pic>
        <p:nvPicPr>
          <p:cNvPr id="6" name="Picture 5" descr="2_replaced.png"/>
          <p:cNvPicPr>
            <a:picLocks noChangeAspect="1"/>
          </p:cNvPicPr>
          <p:nvPr/>
        </p:nvPicPr>
        <p:blipFill>
          <a:blip r:embed="rId2"/>
          <a:stretch>
            <a:fillRect/>
          </a:stretch>
        </p:blipFill>
        <p:spPr>
          <a:xfrm>
            <a:off x="457200" y="1691640"/>
            <a:ext cx="7406640" cy="4434840"/>
          </a:xfrm>
          <a:prstGeom prst="rect">
            <a:avLst/>
          </a:prstGeom>
        </p:spPr>
      </p:pic>
      <p:sp>
        <p:nvSpPr>
          <p:cNvPr id="7" name="TextBox 6"/>
          <p:cNvSpPr txBox="1"/>
          <p:nvPr/>
        </p:nvSpPr>
        <p:spPr>
          <a:xfrm>
            <a:off x="8229600" y="1783080"/>
            <a:ext cx="3410712" cy="685800"/>
          </a:xfrm>
          <a:prstGeom prst="rect">
            <a:avLst/>
          </a:prstGeom>
          <a:noFill/>
        </p:spPr>
        <p:txBody>
          <a:bodyPr wrap="square" anchor="t" lIns="0" rIns="0" tIns="0" bIns="0">
            <a:spAutoFit/>
          </a:bodyPr>
          <a:lstStyle/>
          <a:p>
            <a:pPr algn="l">
              <a:lnSpc>
                <a:spcPct val="105000"/>
              </a:lnSpc>
            </a:pPr>
            <a:r>
              <a:rPr sz="4000" b="1">
                <a:solidFill>
                  <a:srgbClr val="1B1B1B"/>
                </a:solidFill>
                <a:latin typeface="Arial"/>
              </a:rPr>
              <a:t>76%</a:t>
            </a:r>
          </a:p>
        </p:txBody>
      </p:sp>
      <p:sp>
        <p:nvSpPr>
          <p:cNvPr id="8" name="TextBox 7"/>
          <p:cNvSpPr txBox="1"/>
          <p:nvPr/>
        </p:nvSpPr>
        <p:spPr>
          <a:xfrm>
            <a:off x="8229600" y="2496312"/>
            <a:ext cx="3410712" cy="685800"/>
          </a:xfrm>
          <a:prstGeom prst="rect">
            <a:avLst/>
          </a:prstGeom>
          <a:noFill/>
        </p:spPr>
        <p:txBody>
          <a:bodyPr wrap="square" anchor="t" lIns="0" rIns="0" tIns="0" bIns="0">
            <a:spAutoFit/>
          </a:bodyPr>
          <a:lstStyle/>
          <a:p>
            <a:pPr algn="l">
              <a:lnSpc>
                <a:spcPct val="105000"/>
              </a:lnSpc>
            </a:pPr>
            <a:r>
              <a:rPr sz="1500" b="0">
                <a:solidFill>
                  <a:srgbClr val="52514E"/>
                </a:solidFill>
                <a:latin typeface="Arial"/>
              </a:rPr>
              <a:t>of replaced managers had a losing record (vs. 46% who finished)</a:t>
            </a:r>
          </a:p>
        </p:txBody>
      </p:sp>
      <p:sp>
        <p:nvSpPr>
          <p:cNvPr id="9" name="TextBox 8"/>
          <p:cNvSpPr txBox="1"/>
          <p:nvPr/>
        </p:nvSpPr>
        <p:spPr>
          <a:xfrm>
            <a:off x="8229600" y="3154680"/>
            <a:ext cx="3410712" cy="685800"/>
          </a:xfrm>
          <a:prstGeom prst="rect">
            <a:avLst/>
          </a:prstGeom>
          <a:noFill/>
        </p:spPr>
        <p:txBody>
          <a:bodyPr wrap="square" anchor="t" lIns="0" rIns="0" tIns="0" bIns="0">
            <a:spAutoFit/>
          </a:bodyPr>
          <a:lstStyle/>
          <a:p>
            <a:pPr algn="l">
              <a:lnSpc>
                <a:spcPct val="105000"/>
              </a:lnSpc>
            </a:pPr>
            <a:r>
              <a:rPr sz="4000" b="1">
                <a:solidFill>
                  <a:srgbClr val="1B1B1B"/>
                </a:solidFill>
                <a:latin typeface="Arial"/>
              </a:rPr>
              <a:t>.438</a:t>
            </a:r>
          </a:p>
        </p:txBody>
      </p:sp>
      <p:sp>
        <p:nvSpPr>
          <p:cNvPr id="10" name="TextBox 9"/>
          <p:cNvSpPr txBox="1"/>
          <p:nvPr/>
        </p:nvSpPr>
        <p:spPr>
          <a:xfrm>
            <a:off x="8229600" y="3867912"/>
            <a:ext cx="3410712" cy="685800"/>
          </a:xfrm>
          <a:prstGeom prst="rect">
            <a:avLst/>
          </a:prstGeom>
          <a:noFill/>
        </p:spPr>
        <p:txBody>
          <a:bodyPr wrap="square" anchor="t" lIns="0" rIns="0" tIns="0" bIns="0">
            <a:spAutoFit/>
          </a:bodyPr>
          <a:lstStyle/>
          <a:p>
            <a:pPr algn="l">
              <a:lnSpc>
                <a:spcPct val="105000"/>
              </a:lnSpc>
            </a:pPr>
            <a:r>
              <a:rPr sz="1500" b="0">
                <a:solidFill>
                  <a:srgbClr val="52514E"/>
                </a:solidFill>
                <a:latin typeface="Arial"/>
              </a:rPr>
              <a:t>win % of replaced managers, vs. .503 for those who finished</a:t>
            </a:r>
          </a:p>
        </p:txBody>
      </p:sp>
      <p:sp>
        <p:nvSpPr>
          <p:cNvPr id="11" name="TextBox 10"/>
          <p:cNvSpPr txBox="1"/>
          <p:nvPr/>
        </p:nvSpPr>
        <p:spPr>
          <a:xfrm>
            <a:off x="8229600" y="4526280"/>
            <a:ext cx="3410712" cy="685800"/>
          </a:xfrm>
          <a:prstGeom prst="rect">
            <a:avLst/>
          </a:prstGeom>
          <a:noFill/>
        </p:spPr>
        <p:txBody>
          <a:bodyPr wrap="square" anchor="t" lIns="0" rIns="0" tIns="0" bIns="0">
            <a:spAutoFit/>
          </a:bodyPr>
          <a:lstStyle/>
          <a:p>
            <a:pPr algn="l">
              <a:lnSpc>
                <a:spcPct val="105000"/>
              </a:lnSpc>
            </a:pPr>
            <a:r>
              <a:rPr sz="4000" b="1">
                <a:solidFill>
                  <a:srgbClr val="1B1B1B"/>
                </a:solidFill>
                <a:latin typeface="Arial"/>
              </a:rPr>
              <a:t>~80 games</a:t>
            </a:r>
          </a:p>
        </p:txBody>
      </p:sp>
      <p:sp>
        <p:nvSpPr>
          <p:cNvPr id="12" name="TextBox 11"/>
          <p:cNvSpPr txBox="1"/>
          <p:nvPr/>
        </p:nvSpPr>
        <p:spPr>
          <a:xfrm>
            <a:off x="8229600" y="5239512"/>
            <a:ext cx="3410712" cy="685800"/>
          </a:xfrm>
          <a:prstGeom prst="rect">
            <a:avLst/>
          </a:prstGeom>
          <a:noFill/>
        </p:spPr>
        <p:txBody>
          <a:bodyPr wrap="square" anchor="t" lIns="0" rIns="0" tIns="0" bIns="0">
            <a:spAutoFit/>
          </a:bodyPr>
          <a:lstStyle/>
          <a:p>
            <a:pPr algn="l">
              <a:lnSpc>
                <a:spcPct val="105000"/>
              </a:lnSpc>
            </a:pPr>
            <a:r>
              <a:rPr sz="1500" b="0">
                <a:solidFill>
                  <a:srgbClr val="52514E"/>
                </a:solidFill>
                <a:latin typeface="Arial"/>
              </a:rPr>
              <a:t>in before the change, about halfway through the season</a:t>
            </a:r>
          </a:p>
        </p:txBody>
      </p:sp>
      <p:sp>
        <p:nvSpPr>
          <p:cNvPr id="13" name="TextBox 12"/>
          <p:cNvSpPr txBox="1"/>
          <p:nvPr/>
        </p:nvSpPr>
        <p:spPr>
          <a:xfrm>
            <a:off x="8229600" y="5806440"/>
            <a:ext cx="3410712" cy="457200"/>
          </a:xfrm>
          <a:prstGeom prst="rect">
            <a:avLst/>
          </a:prstGeom>
          <a:noFill/>
        </p:spPr>
        <p:txBody>
          <a:bodyPr wrap="square" anchor="t" lIns="0" rIns="0" tIns="0" bIns="0">
            <a:spAutoFit/>
          </a:bodyPr>
          <a:lstStyle/>
          <a:p>
            <a:pPr algn="l">
              <a:lnSpc>
                <a:spcPct val="105000"/>
              </a:lnSpc>
            </a:pPr>
            <a:r>
              <a:rPr sz="1100" b="0">
                <a:solidFill>
                  <a:srgbClr val="898781"/>
                </a:solidFill>
                <a:latin typeface="Arial"/>
              </a:rPr>
              <a:t>Welch's t−test: t = −13.3, p &lt; 0.001</a:t>
            </a:r>
          </a:p>
          <a:p>
            <a:pPr algn="l">
              <a:lnSpc>
                <a:spcPct val="105000"/>
              </a:lnSpc>
            </a:pPr>
            <a:r>
              <a:rPr sz="1100" b="0">
                <a:solidFill>
                  <a:srgbClr val="898781"/>
                </a:solidFill>
                <a:latin typeface="Arial"/>
              </a:rPr>
              <a:t>n = 357 replaced vs. 2,430 finished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0058400" cy="274320"/>
          </a:xfrm>
          <a:prstGeom prst="rect">
            <a:avLst/>
          </a:prstGeom>
          <a:noFill/>
        </p:spPr>
        <p:txBody>
          <a:bodyPr wrap="square" anchor="t" lIns="0" rIns="0" tIns="0" bIns="0">
            <a:spAutoFit/>
          </a:bodyPr>
          <a:lstStyle/>
          <a:p>
            <a:pPr algn="l">
              <a:lnSpc>
                <a:spcPct val="105000"/>
              </a:lnSpc>
            </a:pPr>
            <a:r>
              <a:rPr sz="1300" b="1">
                <a:solidFill>
                  <a:srgbClr val="2A78D6"/>
                </a:solidFill>
                <a:latin typeface="Arial"/>
              </a:rPr>
              <a:t>QUESTION 3 · TENURE</a:t>
            </a:r>
          </a:p>
        </p:txBody>
      </p:sp>
      <p:sp>
        <p:nvSpPr>
          <p:cNvPr id="3" name="TextBox 2"/>
          <p:cNvSpPr txBox="1"/>
          <p:nvPr/>
        </p:nvSpPr>
        <p:spPr>
          <a:xfrm>
            <a:off x="548640" y="731520"/>
            <a:ext cx="11091672" cy="731520"/>
          </a:xfrm>
          <a:prstGeom prst="rect">
            <a:avLst/>
          </a:prstGeom>
          <a:noFill/>
        </p:spPr>
        <p:txBody>
          <a:bodyPr wrap="square" anchor="t" lIns="0" rIns="0" tIns="0" bIns="0">
            <a:spAutoFit/>
          </a:bodyPr>
          <a:lstStyle/>
          <a:p>
            <a:pPr algn="l">
              <a:lnSpc>
                <a:spcPct val="105000"/>
              </a:lnSpc>
            </a:pPr>
            <a:r>
              <a:rPr sz="3200" b="1">
                <a:solidFill>
                  <a:srgbClr val="1B1B1B"/>
                </a:solidFill>
                <a:latin typeface="Arial"/>
              </a:rPr>
              <a:t>Managers who stay longer win more</a:t>
            </a:r>
          </a:p>
        </p:txBody>
      </p:sp>
      <p:sp>
        <p:nvSpPr>
          <p:cNvPr id="4" name="TextBox 3"/>
          <p:cNvSpPr txBox="1"/>
          <p:nvPr/>
        </p:nvSpPr>
        <p:spPr>
          <a:xfrm>
            <a:off x="548640" y="6400800"/>
            <a:ext cx="8229600" cy="228600"/>
          </a:xfrm>
          <a:prstGeom prst="rect">
            <a:avLst/>
          </a:prstGeom>
          <a:noFill/>
        </p:spPr>
        <p:txBody>
          <a:bodyPr wrap="square" anchor="t" lIns="0" rIns="0" tIns="0" bIns="0">
            <a:spAutoFit/>
          </a:bodyPr>
          <a:lstStyle/>
          <a:p>
            <a:pPr algn="l">
              <a:lnSpc>
                <a:spcPct val="105000"/>
              </a:lnSpc>
            </a:pPr>
            <a:r>
              <a:rPr sz="1000" b="0">
                <a:solidFill>
                  <a:srgbClr val="898781"/>
                </a:solidFill>
                <a:latin typeface="Arial"/>
              </a:rPr>
              <a:t>Data: Sean Lahman Baseball Database, 1901–2017</a:t>
            </a:r>
          </a:p>
        </p:txBody>
      </p:sp>
      <p:sp>
        <p:nvSpPr>
          <p:cNvPr id="5" name="TextBox 4"/>
          <p:cNvSpPr txBox="1"/>
          <p:nvPr/>
        </p:nvSpPr>
        <p:spPr>
          <a:xfrm>
            <a:off x="10725912" y="6400800"/>
            <a:ext cx="914400" cy="228600"/>
          </a:xfrm>
          <a:prstGeom prst="rect">
            <a:avLst/>
          </a:prstGeom>
          <a:noFill/>
        </p:spPr>
        <p:txBody>
          <a:bodyPr wrap="square" anchor="t" lIns="0" rIns="0" tIns="0" bIns="0">
            <a:spAutoFit/>
          </a:bodyPr>
          <a:lstStyle/>
          <a:p>
            <a:pPr algn="r">
              <a:lnSpc>
                <a:spcPct val="105000"/>
              </a:lnSpc>
            </a:pPr>
            <a:r>
              <a:rPr sz="1000" b="0">
                <a:solidFill>
                  <a:srgbClr val="898781"/>
                </a:solidFill>
                <a:latin typeface="Arial"/>
              </a:rPr>
              <a:t>7</a:t>
            </a:r>
          </a:p>
        </p:txBody>
      </p:sp>
      <p:pic>
        <p:nvPicPr>
          <p:cNvPr id="6" name="Picture 5" descr="3_tenure.png"/>
          <p:cNvPicPr>
            <a:picLocks noChangeAspect="1"/>
          </p:cNvPicPr>
          <p:nvPr/>
        </p:nvPicPr>
        <p:blipFill>
          <a:blip r:embed="rId2"/>
          <a:stretch>
            <a:fillRect/>
          </a:stretch>
        </p:blipFill>
        <p:spPr>
          <a:xfrm>
            <a:off x="457200" y="1691640"/>
            <a:ext cx="7406640" cy="4434840"/>
          </a:xfrm>
          <a:prstGeom prst="rect">
            <a:avLst/>
          </a:prstGeom>
        </p:spPr>
      </p:pic>
      <p:sp>
        <p:nvSpPr>
          <p:cNvPr id="7" name="Rounded Rectangle 6"/>
          <p:cNvSpPr/>
          <p:nvPr/>
        </p:nvSpPr>
        <p:spPr>
          <a:xfrm>
            <a:off x="8229600" y="1783080"/>
            <a:ext cx="3410712" cy="3840480"/>
          </a:xfrm>
          <a:prstGeom prst="roundRect">
            <a:avLst>
              <a:gd name="adj" fmla="val 6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49640" y="2057400"/>
            <a:ext cx="2834640" cy="274320"/>
          </a:xfrm>
          <a:prstGeom prst="rect">
            <a:avLst/>
          </a:prstGeom>
          <a:noFill/>
        </p:spPr>
        <p:txBody>
          <a:bodyPr wrap="square" anchor="t" lIns="0" rIns="0" tIns="0" bIns="0">
            <a:spAutoFit/>
          </a:bodyPr>
          <a:lstStyle/>
          <a:p>
            <a:pPr algn="l">
              <a:lnSpc>
                <a:spcPct val="105000"/>
              </a:lnSpc>
            </a:pPr>
            <a:r>
              <a:rPr sz="1200" b="1">
                <a:solidFill>
                  <a:srgbClr val="52514E"/>
                </a:solidFill>
                <a:latin typeface="Arial"/>
              </a:rPr>
              <a:t>DIDN'T MAKE SENSE AT FIRST</a:t>
            </a:r>
          </a:p>
        </p:txBody>
      </p:sp>
      <p:sp>
        <p:nvSpPr>
          <p:cNvPr id="9" name="TextBox 8"/>
          <p:cNvSpPr txBox="1"/>
          <p:nvPr/>
        </p:nvSpPr>
        <p:spPr>
          <a:xfrm>
            <a:off x="8549640" y="2423160"/>
            <a:ext cx="2834640" cy="457200"/>
          </a:xfrm>
          <a:prstGeom prst="rect">
            <a:avLst/>
          </a:prstGeom>
          <a:noFill/>
        </p:spPr>
        <p:txBody>
          <a:bodyPr wrap="square" anchor="t" lIns="0" rIns="0" tIns="0" bIns="0">
            <a:spAutoFit/>
          </a:bodyPr>
          <a:lstStyle/>
          <a:p>
            <a:pPr algn="l">
              <a:lnSpc>
                <a:spcPct val="105000"/>
              </a:lnSpc>
            </a:pPr>
            <a:r>
              <a:rPr sz="2800" b="1">
                <a:solidFill>
                  <a:srgbClr val="1B1B1B"/>
                </a:solidFill>
                <a:latin typeface="Arial"/>
              </a:rPr>
              <a:t>Connie Mack</a:t>
            </a:r>
          </a:p>
        </p:txBody>
      </p:sp>
      <p:sp>
        <p:nvSpPr>
          <p:cNvPr id="10" name="TextBox 9"/>
          <p:cNvSpPr txBox="1"/>
          <p:nvPr/>
        </p:nvSpPr>
        <p:spPr>
          <a:xfrm>
            <a:off x="8549640" y="2971800"/>
            <a:ext cx="2834640" cy="1188720"/>
          </a:xfrm>
          <a:prstGeom prst="rect">
            <a:avLst/>
          </a:prstGeom>
          <a:noFill/>
        </p:spPr>
        <p:txBody>
          <a:bodyPr wrap="square" anchor="t" lIns="0" rIns="0" tIns="0" bIns="0">
            <a:spAutoFit/>
          </a:bodyPr>
          <a:lstStyle/>
          <a:p>
            <a:pPr algn="l">
              <a:lnSpc>
                <a:spcPct val="105000"/>
              </a:lnSpc>
            </a:pPr>
            <a:r>
              <a:rPr sz="1700" b="0">
                <a:solidFill>
                  <a:srgbClr val="52514E"/>
                </a:solidFill>
                <a:latin typeface="Arial"/>
              </a:rPr>
              <a:t>managed the Philadelphia A's for 50 straight seasons, with a losing .484 record.</a:t>
            </a:r>
          </a:p>
        </p:txBody>
      </p:sp>
      <p:sp>
        <p:nvSpPr>
          <p:cNvPr id="11" name="Rectangle 10"/>
          <p:cNvSpPr/>
          <p:nvPr/>
        </p:nvSpPr>
        <p:spPr>
          <a:xfrm>
            <a:off x="8549640" y="4206240"/>
            <a:ext cx="2770632" cy="13716"/>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49640" y="4389120"/>
            <a:ext cx="2834640" cy="1005840"/>
          </a:xfrm>
          <a:prstGeom prst="rect">
            <a:avLst/>
          </a:prstGeom>
          <a:noFill/>
        </p:spPr>
        <p:txBody>
          <a:bodyPr wrap="square" anchor="t" lIns="0" rIns="0" tIns="0" bIns="0">
            <a:spAutoFit/>
          </a:bodyPr>
          <a:lstStyle/>
          <a:p>
            <a:pPr algn="l">
              <a:lnSpc>
                <a:spcPct val="105000"/>
              </a:lnSpc>
            </a:pPr>
            <a:r>
              <a:rPr sz="1700" b="1">
                <a:solidFill>
                  <a:srgbClr val="1B1B1B"/>
                </a:solidFill>
                <a:latin typeface="Arial"/>
              </a:rPr>
              <a:t>Explained by: he was also a co-owner of the team.</a:t>
            </a:r>
          </a:p>
        </p:txBody>
      </p:sp>
      <p:sp>
        <p:nvSpPr>
          <p:cNvPr id="13" name="TextBox 12"/>
          <p:cNvSpPr txBox="1"/>
          <p:nvPr/>
        </p:nvSpPr>
        <p:spPr>
          <a:xfrm>
            <a:off x="8229600" y="5806440"/>
            <a:ext cx="3410712" cy="457200"/>
          </a:xfrm>
          <a:prstGeom prst="rect">
            <a:avLst/>
          </a:prstGeom>
          <a:noFill/>
        </p:spPr>
        <p:txBody>
          <a:bodyPr wrap="square" anchor="t" lIns="0" rIns="0" tIns="0" bIns="0">
            <a:spAutoFit/>
          </a:bodyPr>
          <a:lstStyle/>
          <a:p>
            <a:pPr algn="l">
              <a:lnSpc>
                <a:spcPct val="105000"/>
              </a:lnSpc>
            </a:pPr>
            <a:r>
              <a:rPr sz="1100" b="0">
                <a:solidFill>
                  <a:srgbClr val="898781"/>
                </a:solidFill>
                <a:latin typeface="Arial"/>
              </a:rPr>
              <a:t>Spearman ρ = 0.39, p &lt; 0.001</a:t>
            </a:r>
          </a:p>
          <a:p>
            <a:pPr algn="l">
              <a:lnSpc>
                <a:spcPct val="105000"/>
              </a:lnSpc>
            </a:pPr>
            <a:r>
              <a:rPr sz="1100" b="0">
                <a:solidFill>
                  <a:srgbClr val="898781"/>
                </a:solidFill>
                <a:latin typeface="Arial"/>
              </a:rPr>
              <a:t>n = 797 runs with one team (20+ games)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0058400" cy="274320"/>
          </a:xfrm>
          <a:prstGeom prst="rect">
            <a:avLst/>
          </a:prstGeom>
          <a:noFill/>
        </p:spPr>
        <p:txBody>
          <a:bodyPr wrap="square" anchor="t" lIns="0" rIns="0" tIns="0" bIns="0">
            <a:spAutoFit/>
          </a:bodyPr>
          <a:lstStyle/>
          <a:p>
            <a:pPr algn="l">
              <a:lnSpc>
                <a:spcPct val="105000"/>
              </a:lnSpc>
            </a:pPr>
            <a:r>
              <a:rPr sz="1300" b="1">
                <a:solidFill>
                  <a:srgbClr val="2A78D6"/>
                </a:solidFill>
                <a:latin typeface="Arial"/>
              </a:rPr>
              <a:t>TAKEAWAYS</a:t>
            </a:r>
          </a:p>
        </p:txBody>
      </p:sp>
      <p:sp>
        <p:nvSpPr>
          <p:cNvPr id="3" name="TextBox 2"/>
          <p:cNvSpPr txBox="1"/>
          <p:nvPr/>
        </p:nvSpPr>
        <p:spPr>
          <a:xfrm>
            <a:off x="548640" y="731520"/>
            <a:ext cx="11091672" cy="731520"/>
          </a:xfrm>
          <a:prstGeom prst="rect">
            <a:avLst/>
          </a:prstGeom>
          <a:noFill/>
        </p:spPr>
        <p:txBody>
          <a:bodyPr wrap="square" anchor="t" lIns="0" rIns="0" tIns="0" bIns="0">
            <a:spAutoFit/>
          </a:bodyPr>
          <a:lstStyle/>
          <a:p>
            <a:pPr algn="l">
              <a:lnSpc>
                <a:spcPct val="105000"/>
              </a:lnSpc>
            </a:pPr>
            <a:r>
              <a:rPr sz="3200" b="1">
                <a:solidFill>
                  <a:srgbClr val="1B1B1B"/>
                </a:solidFill>
                <a:latin typeface="Arial"/>
              </a:rPr>
              <a:t>Winning keeps managers employed, mostly</a:t>
            </a:r>
          </a:p>
        </p:txBody>
      </p:sp>
      <p:sp>
        <p:nvSpPr>
          <p:cNvPr id="4" name="TextBox 3"/>
          <p:cNvSpPr txBox="1"/>
          <p:nvPr/>
        </p:nvSpPr>
        <p:spPr>
          <a:xfrm>
            <a:off x="548640" y="6400800"/>
            <a:ext cx="8229600" cy="228600"/>
          </a:xfrm>
          <a:prstGeom prst="rect">
            <a:avLst/>
          </a:prstGeom>
          <a:noFill/>
        </p:spPr>
        <p:txBody>
          <a:bodyPr wrap="square" anchor="t" lIns="0" rIns="0" tIns="0" bIns="0">
            <a:spAutoFit/>
          </a:bodyPr>
          <a:lstStyle/>
          <a:p>
            <a:pPr algn="l">
              <a:lnSpc>
                <a:spcPct val="105000"/>
              </a:lnSpc>
            </a:pPr>
            <a:r>
              <a:rPr sz="1000" b="0">
                <a:solidFill>
                  <a:srgbClr val="898781"/>
                </a:solidFill>
                <a:latin typeface="Arial"/>
              </a:rPr>
              <a:t>Data: Sean Lahman Baseball Database, 1901–2017</a:t>
            </a:r>
          </a:p>
        </p:txBody>
      </p:sp>
      <p:sp>
        <p:nvSpPr>
          <p:cNvPr id="5" name="TextBox 4"/>
          <p:cNvSpPr txBox="1"/>
          <p:nvPr/>
        </p:nvSpPr>
        <p:spPr>
          <a:xfrm>
            <a:off x="10725912" y="6400800"/>
            <a:ext cx="914400" cy="228600"/>
          </a:xfrm>
          <a:prstGeom prst="rect">
            <a:avLst/>
          </a:prstGeom>
          <a:noFill/>
        </p:spPr>
        <p:txBody>
          <a:bodyPr wrap="square" anchor="t" lIns="0" rIns="0" tIns="0" bIns="0">
            <a:spAutoFit/>
          </a:bodyPr>
          <a:lstStyle/>
          <a:p>
            <a:pPr algn="r">
              <a:lnSpc>
                <a:spcPct val="105000"/>
              </a:lnSpc>
            </a:pPr>
            <a:r>
              <a:rPr sz="1000" b="0">
                <a:solidFill>
                  <a:srgbClr val="898781"/>
                </a:solidFill>
                <a:latin typeface="Arial"/>
              </a:rPr>
              <a:t>8</a:t>
            </a:r>
          </a:p>
        </p:txBody>
      </p:sp>
      <p:sp>
        <p:nvSpPr>
          <p:cNvPr id="6" name="Rectangle 5"/>
          <p:cNvSpPr/>
          <p:nvPr/>
        </p:nvSpPr>
        <p:spPr>
          <a:xfrm>
            <a:off x="548640" y="1783080"/>
            <a:ext cx="11091672" cy="13716"/>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83080"/>
            <a:ext cx="3291840" cy="1143000"/>
          </a:xfrm>
          <a:prstGeom prst="rect">
            <a:avLst/>
          </a:prstGeom>
          <a:noFill/>
        </p:spPr>
        <p:txBody>
          <a:bodyPr wrap="square" anchor="ctr" lIns="0" rIns="0" tIns="0" bIns="0">
            <a:spAutoFit/>
          </a:bodyPr>
          <a:lstStyle/>
          <a:p>
            <a:pPr algn="l">
              <a:lnSpc>
                <a:spcPct val="105000"/>
              </a:lnSpc>
            </a:pPr>
            <a:r>
              <a:rPr sz="4000" b="1">
                <a:solidFill>
                  <a:srgbClr val="1B1B1B"/>
                </a:solidFill>
                <a:latin typeface="Arial"/>
              </a:rPr>
              <a:t>63% → 93%</a:t>
            </a:r>
          </a:p>
        </p:txBody>
      </p:sp>
      <p:sp>
        <p:nvSpPr>
          <p:cNvPr id="8" name="TextBox 7"/>
          <p:cNvSpPr txBox="1"/>
          <p:nvPr/>
        </p:nvSpPr>
        <p:spPr>
          <a:xfrm>
            <a:off x="4023360" y="1783080"/>
            <a:ext cx="7589520" cy="1143000"/>
          </a:xfrm>
          <a:prstGeom prst="rect">
            <a:avLst/>
          </a:prstGeom>
          <a:noFill/>
        </p:spPr>
        <p:txBody>
          <a:bodyPr wrap="square" anchor="ctr" lIns="0" rIns="0" tIns="0" bIns="0">
            <a:spAutoFit/>
          </a:bodyPr>
          <a:lstStyle/>
          <a:p>
            <a:pPr algn="l">
              <a:lnSpc>
                <a:spcPct val="105000"/>
              </a:lnSpc>
            </a:pPr>
            <a:r>
              <a:rPr sz="2400" b="0">
                <a:solidFill>
                  <a:srgbClr val="1B1B1B"/>
                </a:solidFill>
                <a:latin typeface="Arial"/>
              </a:rPr>
              <a:t>Job security climbs steadily with winning percentage</a:t>
            </a:r>
          </a:p>
        </p:txBody>
      </p:sp>
      <p:sp>
        <p:nvSpPr>
          <p:cNvPr id="9" name="Rectangle 8"/>
          <p:cNvSpPr/>
          <p:nvPr/>
        </p:nvSpPr>
        <p:spPr>
          <a:xfrm>
            <a:off x="548640" y="2926080"/>
            <a:ext cx="11091672" cy="13716"/>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26080"/>
            <a:ext cx="3291840" cy="1143000"/>
          </a:xfrm>
          <a:prstGeom prst="rect">
            <a:avLst/>
          </a:prstGeom>
          <a:noFill/>
        </p:spPr>
        <p:txBody>
          <a:bodyPr wrap="square" anchor="ctr" lIns="0" rIns="0" tIns="0" bIns="0">
            <a:spAutoFit/>
          </a:bodyPr>
          <a:lstStyle/>
          <a:p>
            <a:pPr algn="l">
              <a:lnSpc>
                <a:spcPct val="105000"/>
              </a:lnSpc>
            </a:pPr>
            <a:r>
              <a:rPr sz="4000" b="1">
                <a:solidFill>
                  <a:srgbClr val="1B1B1B"/>
                </a:solidFill>
                <a:latin typeface="Arial"/>
              </a:rPr>
              <a:t>3 in 4</a:t>
            </a:r>
          </a:p>
        </p:txBody>
      </p:sp>
      <p:sp>
        <p:nvSpPr>
          <p:cNvPr id="11" name="TextBox 10"/>
          <p:cNvSpPr txBox="1"/>
          <p:nvPr/>
        </p:nvSpPr>
        <p:spPr>
          <a:xfrm>
            <a:off x="4023360" y="2926080"/>
            <a:ext cx="7589520" cy="1143000"/>
          </a:xfrm>
          <a:prstGeom prst="rect">
            <a:avLst/>
          </a:prstGeom>
          <a:noFill/>
        </p:spPr>
        <p:txBody>
          <a:bodyPr wrap="square" anchor="ctr" lIns="0" rIns="0" tIns="0" bIns="0">
            <a:spAutoFit/>
          </a:bodyPr>
          <a:lstStyle/>
          <a:p>
            <a:pPr algn="l">
              <a:lnSpc>
                <a:spcPct val="105000"/>
              </a:lnSpc>
            </a:pPr>
            <a:r>
              <a:rPr sz="2400" b="0">
                <a:solidFill>
                  <a:srgbClr val="1B1B1B"/>
                </a:solidFill>
                <a:latin typeface="Arial"/>
              </a:rPr>
              <a:t>managers replaced mid-season had a losing record</a:t>
            </a:r>
          </a:p>
        </p:txBody>
      </p:sp>
      <p:sp>
        <p:nvSpPr>
          <p:cNvPr id="12" name="Rectangle 11"/>
          <p:cNvSpPr/>
          <p:nvPr/>
        </p:nvSpPr>
        <p:spPr>
          <a:xfrm>
            <a:off x="548640" y="4069080"/>
            <a:ext cx="11091672" cy="13716"/>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4069080"/>
            <a:ext cx="3291840" cy="1143000"/>
          </a:xfrm>
          <a:prstGeom prst="rect">
            <a:avLst/>
          </a:prstGeom>
          <a:noFill/>
        </p:spPr>
        <p:txBody>
          <a:bodyPr wrap="square" anchor="ctr" lIns="0" rIns="0" tIns="0" bIns="0">
            <a:spAutoFit/>
          </a:bodyPr>
          <a:lstStyle/>
          <a:p>
            <a:pPr algn="l">
              <a:lnSpc>
                <a:spcPct val="105000"/>
              </a:lnSpc>
            </a:pPr>
            <a:r>
              <a:rPr sz="4000" b="1">
                <a:solidFill>
                  <a:srgbClr val="1B1B1B"/>
                </a:solidFill>
                <a:latin typeface="Arial"/>
              </a:rPr>
              <a:t>.433 → .528</a:t>
            </a:r>
          </a:p>
        </p:txBody>
      </p:sp>
      <p:sp>
        <p:nvSpPr>
          <p:cNvPr id="14" name="TextBox 13"/>
          <p:cNvSpPr txBox="1"/>
          <p:nvPr/>
        </p:nvSpPr>
        <p:spPr>
          <a:xfrm>
            <a:off x="4023360" y="4069080"/>
            <a:ext cx="7589520" cy="1143000"/>
          </a:xfrm>
          <a:prstGeom prst="rect">
            <a:avLst/>
          </a:prstGeom>
          <a:noFill/>
        </p:spPr>
        <p:txBody>
          <a:bodyPr wrap="square" anchor="ctr" lIns="0" rIns="0" tIns="0" bIns="0">
            <a:spAutoFit/>
          </a:bodyPr>
          <a:lstStyle/>
          <a:p>
            <a:pPr algn="l">
              <a:lnSpc>
                <a:spcPct val="105000"/>
              </a:lnSpc>
            </a:pPr>
            <a:r>
              <a:rPr sz="2400" b="0">
                <a:solidFill>
                  <a:srgbClr val="1B1B1B"/>
                </a:solidFill>
                <a:latin typeface="Arial"/>
              </a:rPr>
              <a:t>Longer tenures go with better records</a:t>
            </a:r>
          </a:p>
        </p:txBody>
      </p:sp>
      <p:sp>
        <p:nvSpPr>
          <p:cNvPr id="15" name="Rectangle 14"/>
          <p:cNvSpPr/>
          <p:nvPr/>
        </p:nvSpPr>
        <p:spPr>
          <a:xfrm>
            <a:off x="548640" y="5212080"/>
            <a:ext cx="11091672" cy="13716"/>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5486400"/>
            <a:ext cx="6949440" cy="640080"/>
          </a:xfrm>
          <a:prstGeom prst="rect">
            <a:avLst/>
          </a:prstGeom>
          <a:noFill/>
        </p:spPr>
        <p:txBody>
          <a:bodyPr wrap="square" anchor="t" lIns="0" rIns="0" tIns="0" bIns="0">
            <a:spAutoFit/>
          </a:bodyPr>
          <a:lstStyle/>
          <a:p>
            <a:pPr algn="l">
              <a:lnSpc>
                <a:spcPct val="105000"/>
              </a:lnSpc>
            </a:pPr>
            <a:r>
              <a:rPr sz="1400" b="0">
                <a:solidFill>
                  <a:srgbClr val="52514E"/>
                </a:solidFill>
                <a:latin typeface="Arial"/>
              </a:rPr>
              <a:t>Keep in mind: this is correlation, not causation. "Not back" includes quitting and retiring, and winning isn't the only thing owners judge.</a:t>
            </a:r>
          </a:p>
        </p:txBody>
      </p:sp>
      <p:sp>
        <p:nvSpPr>
          <p:cNvPr id="17" name="TextBox 16"/>
          <p:cNvSpPr txBox="1"/>
          <p:nvPr/>
        </p:nvSpPr>
        <p:spPr>
          <a:xfrm>
            <a:off x="7680960" y="5440680"/>
            <a:ext cx="3959352" cy="640080"/>
          </a:xfrm>
          <a:prstGeom prst="rect">
            <a:avLst/>
          </a:prstGeom>
          <a:noFill/>
        </p:spPr>
        <p:txBody>
          <a:bodyPr wrap="square" anchor="t" lIns="0" rIns="0" tIns="0" bIns="0">
            <a:spAutoFit/>
          </a:bodyPr>
          <a:lstStyle/>
          <a:p>
            <a:pPr algn="r">
              <a:lnSpc>
                <a:spcPct val="105000"/>
              </a:lnSpc>
            </a:pPr>
            <a:r>
              <a:rPr sz="2800" b="1">
                <a:solidFill>
                  <a:srgbClr val="2A78D6"/>
                </a:solidFill>
                <a:latin typeface="Arial"/>
              </a:rPr>
              <a:t>Thanks!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